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be2008a890049cd" /><Relationship Type="http://schemas.openxmlformats.org/officeDocument/2006/relationships/extended-properties" Target="/docProps/app.xml" Id="Rf58744b4a81e4908" /><Relationship Type="http://schemas.openxmlformats.org/officeDocument/2006/relationships/officeDocument" Target="/ppt/presentation.xml" Id="R9d51895d795a49d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05f1db6d9ef4c37"/>
  </p:sldMasterIdLst>
  <p:notesMasterIdLst>
    <p:notesMasterId xmlns:r="http://schemas.openxmlformats.org/officeDocument/2006/relationships" r:id="R9a7f849322654f8d"/>
  </p:notesMasterIdLst>
  <p:sldIdLst>
    <p:sldId xmlns:r="http://schemas.openxmlformats.org/officeDocument/2006/relationships" id="256" r:id="Rc1f45b2686934801"/>
    <p:sldId xmlns:r="http://schemas.openxmlformats.org/officeDocument/2006/relationships" id="257" r:id="R8191e3df947647f7"/>
    <p:sldId xmlns:r="http://schemas.openxmlformats.org/officeDocument/2006/relationships" id="258" r:id="R220f538120cf4d00"/>
    <p:sldId xmlns:r="http://schemas.openxmlformats.org/officeDocument/2006/relationships" id="259" r:id="R002ad7be32484faa"/>
    <p:sldId xmlns:r="http://schemas.openxmlformats.org/officeDocument/2006/relationships" id="260" r:id="R95965de244d3416c"/>
    <p:sldId xmlns:r="http://schemas.openxmlformats.org/officeDocument/2006/relationships" id="261" r:id="R5de4030ffb3c42a3"/>
    <p:sldId xmlns:r="http://schemas.openxmlformats.org/officeDocument/2006/relationships" id="262" r:id="R70ebf053fe504f15"/>
    <p:sldId xmlns:r="http://schemas.openxmlformats.org/officeDocument/2006/relationships" id="263" r:id="R83bc865961ac4917"/>
    <p:sldId xmlns:r="http://schemas.openxmlformats.org/officeDocument/2006/relationships" id="264" r:id="Ra5b53576fdab456d"/>
    <p:sldId xmlns:r="http://schemas.openxmlformats.org/officeDocument/2006/relationships" id="265" r:id="R220358f2270f4515"/>
    <p:sldId xmlns:r="http://schemas.openxmlformats.org/officeDocument/2006/relationships" id="266" r:id="R35c45a6f70b7456a"/>
    <p:sldId xmlns:r="http://schemas.openxmlformats.org/officeDocument/2006/relationships" id="267" r:id="Re508aa1351e84cef"/>
    <p:sldId xmlns:r="http://schemas.openxmlformats.org/officeDocument/2006/relationships" id="268" r:id="R7729064bd7ec402b"/>
    <p:sldId xmlns:r="http://schemas.openxmlformats.org/officeDocument/2006/relationships" id="269" r:id="R01f5850ce40d4857"/>
    <p:sldId xmlns:r="http://schemas.openxmlformats.org/officeDocument/2006/relationships" id="270" r:id="R262959c7192f4ce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b99e639c0334e9b" /><Relationship Type="http://schemas.openxmlformats.org/officeDocument/2006/relationships/slideMaster" Target="/ppt/slideMasters/slideMaster1.xml" Id="Ra05f1db6d9ef4c37" /><Relationship Type="http://schemas.openxmlformats.org/officeDocument/2006/relationships/notesMaster" Target="/ppt/notesMasters/notesMaster1.xml" Id="R9a7f849322654f8d" /><Relationship Type="http://schemas.openxmlformats.org/officeDocument/2006/relationships/presProps" Target="/ppt/presProps.xml" Id="Ra495ae1a10f34502" /><Relationship Type="http://schemas.openxmlformats.org/officeDocument/2006/relationships/tableStyles" Target="/ppt/tableStyles.xml" Id="Rd0a33e694fe94058" /><Relationship Type="http://schemas.openxmlformats.org/officeDocument/2006/relationships/slide" Target="/ppt/slides/slide1.xml" Id="Rc1f45b2686934801" /><Relationship Type="http://schemas.openxmlformats.org/officeDocument/2006/relationships/slide" Target="/ppt/slides/slide2.xml" Id="R8191e3df947647f7" /><Relationship Type="http://schemas.openxmlformats.org/officeDocument/2006/relationships/slide" Target="/ppt/slides/slide3.xml" Id="R220f538120cf4d00" /><Relationship Type="http://schemas.openxmlformats.org/officeDocument/2006/relationships/slide" Target="/ppt/slides/slide4.xml" Id="R002ad7be32484faa" /><Relationship Type="http://schemas.openxmlformats.org/officeDocument/2006/relationships/slide" Target="/ppt/slides/slide5.xml" Id="R95965de244d3416c" /><Relationship Type="http://schemas.openxmlformats.org/officeDocument/2006/relationships/slide" Target="/ppt/slides/slide6.xml" Id="R5de4030ffb3c42a3" /><Relationship Type="http://schemas.openxmlformats.org/officeDocument/2006/relationships/slide" Target="/ppt/slides/slide7.xml" Id="R70ebf053fe504f15" /><Relationship Type="http://schemas.openxmlformats.org/officeDocument/2006/relationships/slide" Target="/ppt/slides/slide8.xml" Id="R83bc865961ac4917" /><Relationship Type="http://schemas.openxmlformats.org/officeDocument/2006/relationships/slide" Target="/ppt/slides/slide9.xml" Id="Ra5b53576fdab456d" /><Relationship Type="http://schemas.openxmlformats.org/officeDocument/2006/relationships/slide" Target="/ppt/slides/slide10.xml" Id="R220358f2270f4515" /><Relationship Type="http://schemas.openxmlformats.org/officeDocument/2006/relationships/slide" Target="/ppt/slides/slide11.xml" Id="R35c45a6f70b7456a" /><Relationship Type="http://schemas.openxmlformats.org/officeDocument/2006/relationships/slide" Target="/ppt/slides/slide12.xml" Id="Re508aa1351e84cef" /><Relationship Type="http://schemas.openxmlformats.org/officeDocument/2006/relationships/slide" Target="/ppt/slides/slide13.xml" Id="R7729064bd7ec402b" /><Relationship Type="http://schemas.openxmlformats.org/officeDocument/2006/relationships/slide" Target="/ppt/slides/slide14.xml" Id="R01f5850ce40d4857" /><Relationship Type="http://schemas.openxmlformats.org/officeDocument/2006/relationships/slide" Target="/ppt/slides/slide15.xml" Id="R262959c7192f4ce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21789c4bd064c3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b0a04f053bc42ae" /><Relationship Type="http://schemas.openxmlformats.org/officeDocument/2006/relationships/notesMaster" Target="/ppt/notesMasters/notesMaster1.xml" Id="R91050cf466a843f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ea7064885164bc1" /><Relationship Type="http://schemas.openxmlformats.org/officeDocument/2006/relationships/notesMaster" Target="/ppt/notesMasters/notesMaster1.xml" Id="R6e4479ab509f4db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5c9a715cfb041a2" /><Relationship Type="http://schemas.openxmlformats.org/officeDocument/2006/relationships/notesMaster" Target="/ppt/notesMasters/notesMaster1.xml" Id="R96b042f9c5d1469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3bf96ff5cc94cf1" /><Relationship Type="http://schemas.openxmlformats.org/officeDocument/2006/relationships/notesMaster" Target="/ppt/notesMasters/notesMaster1.xml" Id="R981f405fde484d0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1944cb2229040bb" /><Relationship Type="http://schemas.openxmlformats.org/officeDocument/2006/relationships/notesMaster" Target="/ppt/notesMasters/notesMaster1.xml" Id="Ra68ee8ccaa604e2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32ef9a65a5642d0" /><Relationship Type="http://schemas.openxmlformats.org/officeDocument/2006/relationships/notesMaster" Target="/ppt/notesMasters/notesMaster1.xml" Id="Reb3e7c27c3a74c8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b35b10cc4434a08" /><Relationship Type="http://schemas.openxmlformats.org/officeDocument/2006/relationships/notesMaster" Target="/ppt/notesMasters/notesMaster1.xml" Id="R9ba09d5597d34b1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4936352c92c4461" /><Relationship Type="http://schemas.openxmlformats.org/officeDocument/2006/relationships/notesMaster" Target="/ppt/notesMasters/notesMaster1.xml" Id="Rd15fdc9fb57b495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da90e899d3647a1" /><Relationship Type="http://schemas.openxmlformats.org/officeDocument/2006/relationships/notesMaster" Target="/ppt/notesMasters/notesMaster1.xml" Id="R4ebc9d560731463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28e7e28e6344b1a" /><Relationship Type="http://schemas.openxmlformats.org/officeDocument/2006/relationships/notesMaster" Target="/ppt/notesMasters/notesMaster1.xml" Id="Rced2c4efdbfa4cb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de57a2f5dc948e9" /><Relationship Type="http://schemas.openxmlformats.org/officeDocument/2006/relationships/notesMaster" Target="/ppt/notesMasters/notesMaster1.xml" Id="R46c5584b40ab43b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4e9b22fe63e40df" /><Relationship Type="http://schemas.openxmlformats.org/officeDocument/2006/relationships/notesMaster" Target="/ppt/notesMasters/notesMaster1.xml" Id="Rcf5364789ad646b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50660c92b52464a" /><Relationship Type="http://schemas.openxmlformats.org/officeDocument/2006/relationships/notesMaster" Target="/ppt/notesMasters/notesMaster1.xml" Id="R6ae302cc9d794a3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b3b3f7387f242be" /><Relationship Type="http://schemas.openxmlformats.org/officeDocument/2006/relationships/notesMaster" Target="/ppt/notesMasters/notesMaster1.xml" Id="R9724d75c87ba481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0ea43a93ebf4b1a" /><Relationship Type="http://schemas.openxmlformats.org/officeDocument/2006/relationships/notesMaster" Target="/ppt/notesMasters/notesMaster1.xml" Id="R87c8ba8c8a2f403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EquiX is an SWP391 project that models the complete lifecycle of horse racing tournament management.</a:t>
            </a:r>
          </a:p>
          <a:p xmlns:a="http://schemas.openxmlformats.org/drawingml/2006/main">
            <a:r>
              <a:t>The product is not only a user interface; its main value is an integrated workflow across five business roles.</a:t>
            </a:r>
          </a:p>
          <a:p xmlns:a="http://schemas.openxmlformats.org/drawingml/2006/main">
            <a:r>
              <a:t>This presentation focuses on the architecture, V4 rules, result governance, and test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coordination problem instead of listing features.</a:t>
            </a:r>
          </a:p>
          <a:p xmlns:a="http://schemas.openxmlformats.org/drawingml/2006/main">
            <a:r>
              <a:t>Emphasize that the backend enforces the rules; the frontend reflects state and guides the user.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Referees have no public registration flow; only an Administrator can create a referee account.</a:t>
            </a:r>
          </a:p>
          <a:p xmlns:a="http://schemas.openxmlformats.org/drawingml/2006/main">
            <a:r>
              <a:t>Horse Owners and Jockeys require Administrator verification, while Spectators are activated immediately to reduce friction.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JWT supports stateless REST; the backend never trusts a role supplied by the frontend.</a:t>
            </a:r>
          </a:p>
          <a:p xmlns:a="http://schemas.openxmlformats.org/drawingml/2006/main">
            <a:r>
              <a:t>SQL Server is the production runtime. H2 is used only by automated tests.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 Administrator cannot start a race; that permission belongs only to the assigned Referee.</a:t>
            </a:r>
          </a:p>
          <a:p xmlns:a="http://schemas.openxmlformats.org/drawingml/2006/main">
            <a:r>
              <a:t>This separation of responsibilities prevents one role from controlling the entire process.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If registration is disabled, check the horse status, invitation, pairing, deadline, and Administrator approval in that order.</a:t>
            </a:r>
          </a:p>
          <a:p xmlns:a="http://schemas.openxmlformats.org/drawingml/2006/main">
            <a:r>
              <a:t>This workflow prevents incomplete race entries without a horse or jockey.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Predictions lock when the race reaches STANDBY.</a:t>
            </a:r>
          </a:p>
          <a:p xmlns:a="http://schemas.openxmlformats.org/drawingml/2006/main">
            <a:r>
              <a:t>The Administrator manages registration states, but only the assigned Referee can start or complete a race.</a:t>
            </a:r>
          </a:p>
          <a:p xmlns:a="http://schemas.openxmlformats.org/drawingml/2006/main">
            <a:r>
              <a:t>Special branch: REPORT_READY ↔ REVISION_REQUIRED; a race that has not started may become CANCELLED.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Additional rules include: all races use Turf, the prize pool cannot be negative, referees cannot have schedule conflicts, and disqualification requires a reason.</a:t>
            </a:r>
          </a:p>
          <a:p xmlns:a="http://schemas.openxmlformats.org/drawingml/2006/main">
            <a:r>
              <a:t>Critical validations live in the service layer so direct API calls cannot bypass the UI.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Under V4, first place receives horse goods, second place a voucher, and third place a drink coupon.</a:t>
            </a:r>
          </a:p>
          <a:p xmlns:a="http://schemas.openxmlformats.org/drawingml/2006/main">
            <a:r>
              <a:t>The prize pool is display data allocated 60/30/10; it does not represent a real-money transaction.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For the demo, select a prepared race with enough FIT entries before moving it to STANDBY.</a:t>
            </a:r>
          </a:p>
          <a:p xmlns:a="http://schemas.openxmlformats.org/drawingml/2006/main">
            <a:r>
              <a:t>RaceTrack keeps horseId separate from registrationId so every horse receives the correct real-time update.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most important separation of duties in the project.</a:t>
            </a:r>
          </a:p>
          <a:p xmlns:a="http://schemas.openxmlformats.org/drawingml/2006/main">
            <a:r>
              <a:t>Even a clean race requires a minimally signed report; there is no shortcut to OFFICIAL.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Backend tests use the test profile and temporary H2 database; they do not replace the SQL Server runtime.</a:t>
            </a:r>
          </a:p>
          <a:p xmlns:a="http://schemas.openxmlformats.org/drawingml/2006/main">
            <a:r>
              <a:t>Frontend tests and the production build were run independently to validate logic and packaging.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 not cancel the race used for the demo flow.</a:t>
            </a:r>
          </a:p>
          <a:p xmlns:a="http://schemas.openxmlformats.org/drawingml/2006/main">
            <a:r>
              <a:t>If a step already changed state, use another prepared race instead of editing SQL directly.</a:t>
            </a:r>
          </a:p>
          <a:p xmlns:a="http://schemas.openxmlformats.org/drawingml/2006/main">
            <a:r>
              <a:t>Back up the database before the presentation.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Clearly distinguish completed project capabilities from future development.</a:t>
            </a:r>
          </a:p>
          <a:p xmlns:a="http://schemas.openxmlformats.org/drawingml/2006/main">
            <a:r>
              <a:t>Local email currently uses a logging adapter; real SMTP is required for production deployment.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with three points: the cross-role workflow, two-step result control, and test evidence.</a:t>
            </a:r>
          </a:p>
          <a:p xmlns:a="http://schemas.openxmlformats.org/drawingml/2006/main">
            <a:r>
              <a:t>Invite questions from the lecturer or move directly to the live demonstration.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e98f0583474f7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ad3594ea7044707" /><Relationship Type="http://schemas.openxmlformats.org/officeDocument/2006/relationships/slideLayout" Target="/ppt/slideLayouts/slideLayout1.xml" Id="Rdc0b61ad7d2a445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c0b61ad7d2a445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6e05c602b54363" /><Relationship Type="http://schemas.openxmlformats.org/officeDocument/2006/relationships/image" Target="/ppt/media/image.png" Id="Rbebb1b751b814aa1" /><Relationship Type="http://schemas.openxmlformats.org/officeDocument/2006/relationships/notesSlide" Target="/ppt/notesSlides/notesSlide1.xml" Id="R8a31b7348dea46e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62bcb0e0e84eb1" /><Relationship Type="http://schemas.openxmlformats.org/officeDocument/2006/relationships/notesSlide" Target="/ppt/notesSlides/notesSlide2.xml" Id="Ra32960ad1ed141a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82e8a5637d48e9" /><Relationship Type="http://schemas.openxmlformats.org/officeDocument/2006/relationships/notesSlide" Target="/ppt/notesSlides/notesSlide3.xml" Id="R7d79693b5ca746e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bd8ed3355048df" /><Relationship Type="http://schemas.openxmlformats.org/officeDocument/2006/relationships/notesSlide" Target="/ppt/notesSlides/notesSlide4.xml" Id="R622f83c7dd5e4cb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94f75233394bc2" /><Relationship Type="http://schemas.openxmlformats.org/officeDocument/2006/relationships/notesSlide" Target="/ppt/notesSlides/notesSlide5.xml" Id="R3cf1eff95d2c495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902f0b5ff64a8a" /><Relationship Type="http://schemas.openxmlformats.org/officeDocument/2006/relationships/notesSlide" Target="/ppt/notesSlides/notesSlide6.xml" Id="R100dba61d4c1409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7e60c2f9634762" /><Relationship Type="http://schemas.openxmlformats.org/officeDocument/2006/relationships/notesSlide" Target="/ppt/notesSlides/notesSlide7.xml" Id="R1b7c4f66581d487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89eb19f6064e3b" /><Relationship Type="http://schemas.openxmlformats.org/officeDocument/2006/relationships/notesSlide" Target="/ppt/notesSlides/notesSlide8.xml" Id="Ra9581f3eb85546e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14196977e840ca" /><Relationship Type="http://schemas.openxmlformats.org/officeDocument/2006/relationships/notesSlide" Target="/ppt/notesSlides/notesSlide9.xml" Id="Rfe15e2bc2b4141c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be08f6e06e4f27" /><Relationship Type="http://schemas.openxmlformats.org/officeDocument/2006/relationships/image" Target="/ppt/media/image2.png" Id="Ra61c8ab571cb44b7" /><Relationship Type="http://schemas.openxmlformats.org/officeDocument/2006/relationships/notesSlide" Target="/ppt/notesSlides/notesSlide10.xml" Id="R81b98f5c8080426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5a47f9ba994367" /><Relationship Type="http://schemas.openxmlformats.org/officeDocument/2006/relationships/notesSlide" Target="/ppt/notesSlides/notesSlide11.xml" Id="Rd15c622401264aa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9ae622e4554b8e" /><Relationship Type="http://schemas.openxmlformats.org/officeDocument/2006/relationships/notesSlide" Target="/ppt/notesSlides/notesSlide12.xml" Id="R5bddca22f236422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97f6d91cfa4aee" /><Relationship Type="http://schemas.openxmlformats.org/officeDocument/2006/relationships/notesSlide" Target="/ppt/notesSlides/notesSlide13.xml" Id="Rfc270d4142ca44f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39db7fa2474612" /><Relationship Type="http://schemas.openxmlformats.org/officeDocument/2006/relationships/notesSlide" Target="/ppt/notesSlides/notesSlide14.xml" Id="R272097a48368411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1cb436dda547ea" /><Relationship Type="http://schemas.openxmlformats.org/officeDocument/2006/relationships/notesSlide" Target="/ppt/notesSlides/notesSlide15.xml" Id="Rfe2c897c86de45c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cover-red-rail">
            <a:extLst xmlns:a="http://schemas.openxmlformats.org/drawingml/2006/main">
              <a:ext uri="{FF2B5EF4-FFF2-40B4-BE49-F238E27FC236}">
                <a16:creationId xmlns:a16="http://schemas.microsoft.com/office/drawing/2014/main" id="{773A0389-0F16-4C7B-9CA2-704EC5CAE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47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75694EAC-95FD-41F6-823A-9AD900D6E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3875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E4473A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E4473A"/>
                </a:solidFill>
                <a:latin typeface="Arial"/>
                <a:ea typeface="Arial"/>
                <a:cs typeface="Arial"/>
              </a:rPr>
              <a:t>EQUIX</a:t>
            </a:r>
          </a:p>
        </p:txBody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2AF60E54-8644-4C49-846C-32234E962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81125"/>
            <a:ext cx="5095875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750" b="1" i="0">
                <a:solidFill>
                  <a:srgbClr val="111217"/>
                </a:solidFill>
                <a:latin typeface="Arial"/>
                <a:ea typeface="Arial"/>
                <a:cs typeface="Arial"/>
              </a:defRPr>
            </a:pPr>
            <a:r>
              <a:rPr sz="3750" b="1" i="0">
                <a:solidFill>
                  <a:srgbClr val="111217"/>
                </a:solidFill>
                <a:latin typeface="Arial"/>
                <a:ea typeface="Arial"/>
                <a:cs typeface="Arial"/>
              </a:rPr>
              <a:t>Horse Racing</a:t>
            </a:r>
          </a:p>
          <a:p xmlns:a="http://schemas.openxmlformats.org/drawingml/2006/main">
            <a:pPr algn="l">
              <a:defRPr sz="3750" b="1" i="0">
                <a:solidFill>
                  <a:srgbClr val="111217"/>
                </a:solidFill>
                <a:latin typeface="Arial"/>
                <a:ea typeface="Arial"/>
                <a:cs typeface="Arial"/>
              </a:defRPr>
            </a:pPr>
            <a:r>
              <a:rPr sz="3750" b="1" i="0">
                <a:solidFill>
                  <a:srgbClr val="111217"/>
                </a:solidFill>
                <a:latin typeface="Arial"/>
                <a:ea typeface="Arial"/>
                <a:cs typeface="Arial"/>
              </a:rPr>
              <a:t>Tournament Management</a:t>
            </a:r>
          </a:p>
        </p:txBody>
      </p: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87B6747D-6778-40AF-BFF8-4B3A40D28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3375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60646F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60646F"/>
                </a:solidFill>
                <a:latin typeface="Arial"/>
                <a:ea typeface="Arial"/>
                <a:cs typeface="Arial"/>
              </a:rPr>
              <a:t>An end-to-end, role-based workflow from registration and pairing to race operations, official results, and rewards.</a:t>
            </a:r>
          </a:p>
        </p:txBody>
      </p:sp>
      <p:sp>
        <p:nvSpPr>
          <p:cNvPr id="5" name="badge-SWP391 PROJECT · FPT UNIVERSITY">
            <a:extLst xmlns:a="http://schemas.openxmlformats.org/drawingml/2006/main">
              <a:ext uri="{FF2B5EF4-FFF2-40B4-BE49-F238E27FC236}">
                <a16:creationId xmlns:a16="http://schemas.microsoft.com/office/drawing/2014/main" id="{51B947C3-38F0-4A62-9BC1-B39E1F99C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62500"/>
            <a:ext cx="31432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CE9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0E885D-AAC2-498B-B274-AE6C7229B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29175"/>
            <a:ext cx="2914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B93229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B93229"/>
                </a:solidFill>
                <a:latin typeface="Arial"/>
                <a:ea typeface="Arial"/>
                <a:cs typeface="Arial"/>
              </a:rPr>
              <a:t>SWP391 PROJECT · FPT UNIVERSITY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CA20DD-7566-4132-A5A6-B87CB898C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33400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11217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11217"/>
                </a:solidFill>
                <a:latin typeface="Arial"/>
                <a:ea typeface="Arial"/>
                <a:cs typeface="Arial"/>
              </a:rPr>
              <a:t>EquiX Team · Business Logic V4</a:t>
            </a:r>
          </a:p>
        </p:txBody>
      </p:sp>
      <p:sp>
        <p:nvSpPr>
          <p:cNvPr id="8" name="cover-image-panel">
            <a:extLst xmlns:a="http://schemas.openxmlformats.org/drawingml/2006/main">
              <a:ext uri="{FF2B5EF4-FFF2-40B4-BE49-F238E27FC236}">
                <a16:creationId xmlns:a16="http://schemas.microsoft.com/office/drawing/2014/main" id="{68126BB8-5C03-49C8-9382-38F2C452B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666750"/>
            <a:ext cx="5429250" cy="4953000"/>
          </a:xfrm>
          <a:prstGeom xmlns:a="http://schemas.openxmlformats.org/drawingml/2006/main" prst="roundRect">
            <a:avLst>
              <a:gd name="adj" fmla="val 1538"/>
            </a:avLst>
          </a:prstGeom>
          <a:solidFill xmlns:a="http://schemas.openxmlformats.org/drawingml/2006/main">
            <a:srgbClr val="101117"/>
          </a:solidFill>
          <a:ln xmlns:a="http://schemas.openxmlformats.org/drawingml/2006/main" w="9525">
            <a:solidFill>
              <a:srgbClr val="C9CCD2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bb1b751b814aa1"/>
          <a:stretch xmlns:a="http://schemas.openxmlformats.org/drawingml/2006/main"/>
        </p:blipFill>
        <p:spPr>
          <a:xfrm xmlns:a="http://schemas.openxmlformats.org/drawingml/2006/main">
            <a:off x="6305550" y="1577942"/>
            <a:ext cx="5048250" cy="3130616"/>
          </a:xfrm>
          <a:prstGeom xmlns:a="http://schemas.openxmlformats.org/drawingml/2006/main" prst="roundRect">
            <a:avLst>
              <a:gd name="adj" fmla="val 2500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A6968B-1A91-41E0-BCF5-24D3A767E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81025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60646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60646F"/>
                </a:solidFill>
                <a:latin typeface="Arial"/>
                <a:ea typeface="Arial"/>
                <a:cs typeface="Arial"/>
              </a:rPr>
              <a:t>React · Spring Boot · SQL Server · JWT</a:t>
            </a:r>
          </a:p>
        </p:txBody>
      </p:sp>
    </p:spTree>
    <p:extLst>
      <p:ext uri="{BB962C8B-B14F-4D97-AF65-F5344CB8AC3E}">
        <p14:creationId xmlns:p14="http://schemas.microsoft.com/office/powerpoint/2010/main" val="124478075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3AA0B3A-7484-4FCF-B744-C056D1F3E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11217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111217"/>
                </a:solidFill>
                <a:latin typeface="Arial"/>
                <a:ea typeface="Arial"/>
                <a:cs typeface="Arial"/>
              </a:rPr>
              <a:t>A race succeeds only when every role acts at the right time</a:t>
            </a:r>
          </a:p>
        </p:txBody>
      </p:sp>
      <p:sp>
        <p:nvSpPr>
          <p:cNvPr id="2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B8836B03-D038-4D1E-ABA6-226878D46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962025"/>
            <a:ext cx="704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47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roblem-panel">
            <a:extLst xmlns:a="http://schemas.openxmlformats.org/drawingml/2006/main">
              <a:ext uri="{FF2B5EF4-FFF2-40B4-BE49-F238E27FC236}">
                <a16:creationId xmlns:a16="http://schemas.microsoft.com/office/drawing/2014/main" id="{EF55A2D4-4499-49A8-9241-C0E415886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81150"/>
            <a:ext cx="5257800" cy="4171950"/>
          </a:xfrm>
          <a:prstGeom xmlns:a="http://schemas.openxmlformats.org/drawingml/2006/main" prst="roundRect">
            <a:avLst>
              <a:gd name="adj" fmla="val 1826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C9CCD2"/>
            </a:solidFill>
            <a:prstDash val="solid"/>
          </a:ln>
        </p:spPr>
      </p:sp>
      <p:sp>
        <p:nvSpPr>
          <p:cNvPr id="4" name="solution-panel">
            <a:extLst xmlns:a="http://schemas.openxmlformats.org/drawingml/2006/main">
              <a:ext uri="{FF2B5EF4-FFF2-40B4-BE49-F238E27FC236}">
                <a16:creationId xmlns:a16="http://schemas.microsoft.com/office/drawing/2014/main" id="{EF5F39CE-9BBA-4161-B386-248C60BC4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581150"/>
            <a:ext cx="5638800" cy="4171950"/>
          </a:xfrm>
          <a:prstGeom xmlns:a="http://schemas.openxmlformats.org/drawingml/2006/main" prst="roundRect">
            <a:avLst>
              <a:gd name="adj" fmla="val 1826"/>
            </a:avLst>
          </a:prstGeom>
          <a:solidFill xmlns:a="http://schemas.openxmlformats.org/drawingml/2006/main">
            <a:srgbClr val="101117"/>
          </a:solidFill>
          <a:ln xmlns:a="http://schemas.openxmlformats.org/drawingml/2006/main" w="9525">
            <a:solidFill>
              <a:srgbClr val="C9CCD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218FE6-9B51-4CD0-A1F1-05E2F9B61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05000"/>
            <a:ext cx="428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B93229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B93229"/>
                </a:solidFill>
                <a:latin typeface="Arial"/>
                <a:ea typeface="Arial"/>
                <a:cs typeface="Arial"/>
              </a:rPr>
              <a:t>Business challenge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B410AB-AFF7-4E40-B85C-CA8C8D59B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76500"/>
            <a:ext cx="43434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11217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11217"/>
                </a:solidFill>
                <a:latin typeface="Arial"/>
                <a:ea typeface="Arial"/>
                <a:cs typeface="Arial"/>
              </a:rPr>
              <a:t>When data is fragmented or permissions are unclear, a system may accept invalid registrations, start a race too early, allow prediction edits after lock, or publish unverified results.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F47CD6-60D8-4C04-9B4B-C34D145B8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672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60646F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60646F"/>
                </a:solidFill>
                <a:latin typeface="Arial"/>
                <a:ea typeface="Arial"/>
                <a:cs typeface="Arial"/>
              </a:rPr>
              <a:t>Primary risks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CCCB75-D127-414E-92E2-427B8BAE0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4000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11217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11217"/>
                </a:solidFill>
                <a:latin typeface="Arial"/>
                <a:ea typeface="Arial"/>
                <a:cs typeface="Arial"/>
              </a:rPr>
              <a:t>• Incorrect authorization</a:t>
            </a:r>
          </a:p>
          <a:p xmlns:a="http://schemas.openxmlformats.org/drawingml/2006/main">
            <a:pPr algn="l">
              <a:defRPr sz="1350" b="0" i="0">
                <a:solidFill>
                  <a:srgbClr val="111217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11217"/>
                </a:solidFill>
                <a:latin typeface="Arial"/>
                <a:ea typeface="Arial"/>
                <a:cs typeface="Arial"/>
              </a:rPr>
              <a:t>• Lost data integrity</a:t>
            </a:r>
          </a:p>
          <a:p xmlns:a="http://schemas.openxmlformats.org/drawingml/2006/main">
            <a:pPr algn="l">
              <a:defRPr sz="1350" b="0" i="0">
                <a:solidFill>
                  <a:srgbClr val="111217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11217"/>
                </a:solidFill>
                <a:latin typeface="Arial"/>
                <a:ea typeface="Arial"/>
                <a:cs typeface="Arial"/>
              </a:rPr>
              <a:t>• Unverified results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E02D43-016B-4B41-AF37-0F898DF44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05000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How EquiX addresses it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99B7B5-E0C7-4111-A70E-08C26FDD9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476500"/>
            <a:ext cx="4762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DADCE2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DADCE2"/>
                </a:solidFill>
                <a:latin typeface="Arial"/>
                <a:ea typeface="Arial"/>
                <a:cs typeface="Arial"/>
              </a:rPr>
              <a:t>A single platform uses explicit business states, JWT-based API authorization, and a mandatory approval chain so every role acts in the correct sequence.</a:t>
            </a:r>
          </a:p>
        </p:txBody>
      </p:sp>
      <p:sp>
        <p:nvSpPr>
          <p:cNvPr id="11" name="bullet-0-438-circle">
            <a:extLst xmlns:a="http://schemas.openxmlformats.org/drawingml/2006/main">
              <a:ext uri="{FF2B5EF4-FFF2-40B4-BE49-F238E27FC236}">
                <a16:creationId xmlns:a16="http://schemas.microsoft.com/office/drawing/2014/main" id="{BD57112F-AE20-4CB4-962B-68D26D962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2005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47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bullet-0-438-text">
            <a:extLst xmlns:a="http://schemas.openxmlformats.org/drawingml/2006/main">
              <a:ext uri="{FF2B5EF4-FFF2-40B4-BE49-F238E27FC236}">
                <a16:creationId xmlns:a16="http://schemas.microsoft.com/office/drawing/2014/main" id="{1AA40372-1AD6-4C86-8C6D-B53F9C13C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210050"/>
            <a:ext cx="209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2593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594934-EB16-4D23-A890-82F7C14C7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171950"/>
            <a:ext cx="4419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State-driven workflow control</a:t>
            </a:r>
          </a:p>
        </p:txBody>
      </p:sp>
      <p:sp>
        <p:nvSpPr>
          <p:cNvPr id="14" name="bullet-1-438-circle">
            <a:extLst xmlns:a="http://schemas.openxmlformats.org/drawingml/2006/main">
              <a:ext uri="{FF2B5EF4-FFF2-40B4-BE49-F238E27FC236}">
                <a16:creationId xmlns:a16="http://schemas.microsoft.com/office/drawing/2014/main" id="{E06CB9E2-5E07-4347-BA55-2495F12C3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6958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47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bullet-1-438-text">
            <a:extLst xmlns:a="http://schemas.openxmlformats.org/drawingml/2006/main">
              <a:ext uri="{FF2B5EF4-FFF2-40B4-BE49-F238E27FC236}">
                <a16:creationId xmlns:a16="http://schemas.microsoft.com/office/drawing/2014/main" id="{2CF528E7-1539-434C-848B-0D3396789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705350"/>
            <a:ext cx="209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2593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2397A9-215D-48A8-A3D5-25026012A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667250"/>
            <a:ext cx="4419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Each role receives only required permissions</a:t>
            </a:r>
          </a:p>
        </p:txBody>
      </p:sp>
      <p:sp>
        <p:nvSpPr>
          <p:cNvPr id="17" name="bullet-2-438-circle">
            <a:extLst xmlns:a="http://schemas.openxmlformats.org/drawingml/2006/main">
              <a:ext uri="{FF2B5EF4-FFF2-40B4-BE49-F238E27FC236}">
                <a16:creationId xmlns:a16="http://schemas.microsoft.com/office/drawing/2014/main" id="{6A24EB92-AE39-4B4D-8ABC-C4DDBEAD7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1911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47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bullet-2-438-text">
            <a:extLst xmlns:a="http://schemas.openxmlformats.org/drawingml/2006/main">
              <a:ext uri="{FF2B5EF4-FFF2-40B4-BE49-F238E27FC236}">
                <a16:creationId xmlns:a16="http://schemas.microsoft.com/office/drawing/2014/main" id="{BD69D55E-7FDD-4433-A7D3-A0FA47CEE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200650"/>
            <a:ext cx="209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2593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641564-97CE-4C6F-AA21-10AF52285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162550"/>
            <a:ext cx="4419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Every result becomes official through two steps</a:t>
            </a:r>
          </a:p>
        </p:txBody>
      </p:sp>
      <p:sp>
        <p:nvSpPr>
          <p:cNvPr id="20" name="footer-label-2">
            <a:extLst xmlns:a="http://schemas.openxmlformats.org/drawingml/2006/main">
              <a:ext uri="{FF2B5EF4-FFF2-40B4-BE49-F238E27FC236}">
                <a16:creationId xmlns:a16="http://schemas.microsoft.com/office/drawing/2014/main" id="{265F335B-19A2-4B6C-B44F-B5E89372E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198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0646F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60646F"/>
                </a:solidFill>
                <a:latin typeface="Arial"/>
                <a:ea typeface="Arial"/>
                <a:cs typeface="Arial"/>
              </a:rPr>
              <a:t>EQUIX · SWP391</a:t>
            </a:r>
          </a:p>
        </p:txBody>
      </p:sp>
      <p:sp>
        <p:nvSpPr>
          <p:cNvPr id="21" name="footer-page-2">
            <a:extLst xmlns:a="http://schemas.openxmlformats.org/drawingml/2006/main">
              <a:ext uri="{FF2B5EF4-FFF2-40B4-BE49-F238E27FC236}">
                <a16:creationId xmlns:a16="http://schemas.microsoft.com/office/drawing/2014/main" id="{729E2AF0-B598-44E0-96E8-9BEDC0D1C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817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60646F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0646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60270113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9FF40EE-4AAC-4B72-9CAD-32086811E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11217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111217"/>
                </a:solidFill>
                <a:latin typeface="Arial"/>
                <a:ea typeface="Arial"/>
                <a:cs typeface="Arial"/>
              </a:rPr>
              <a:t>The platform covers the full race operations chain</a:t>
            </a:r>
          </a:p>
        </p:txBody>
      </p:sp>
      <p:sp>
        <p:nvSpPr>
          <p:cNvPr id="2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87794F65-FB0F-493A-B722-112B4E9F9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962025"/>
            <a:ext cx="704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47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307CF711-2734-451E-AB68-0E2F20516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895350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0646F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0646F"/>
                </a:solidFill>
                <a:latin typeface="Arial"/>
                <a:ea typeface="Arial"/>
                <a:cs typeface="Arial"/>
              </a:rPr>
              <a:t>Guests and five business roles have dedicated screens, permissions, and actions.</a:t>
            </a:r>
          </a:p>
        </p:txBody>
      </p:sp>
      <p:sp>
        <p:nvSpPr>
          <p:cNvPr id="4" name="table-header-bg">
            <a:extLst xmlns:a="http://schemas.openxmlformats.org/drawingml/2006/main">
              <a:ext uri="{FF2B5EF4-FFF2-40B4-BE49-F238E27FC236}">
                <a16:creationId xmlns:a16="http://schemas.microsoft.com/office/drawing/2014/main" id="{F7ECC466-AC95-499E-B0BB-89D487353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66850"/>
            <a:ext cx="108204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1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5A4E63-EE3E-45C5-ABB7-D034D34F4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33525"/>
            <a:ext cx="1809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User group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FC399F-4D06-479C-81CC-58846343D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533525"/>
            <a:ext cx="3524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Primary responsibility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D8AD02-6A06-45B2-96DC-481E5CD73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533525"/>
            <a:ext cx="4914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Representative actions</a:t>
            </a:r>
          </a:p>
        </p:txBody>
      </p:sp>
      <p:sp>
        <p:nvSpPr>
          <p:cNvPr id="8" name="table-row-0">
            <a:extLst xmlns:a="http://schemas.openxmlformats.org/drawingml/2006/main">
              <a:ext uri="{FF2B5EF4-FFF2-40B4-BE49-F238E27FC236}">
                <a16:creationId xmlns:a16="http://schemas.microsoft.com/office/drawing/2014/main" id="{A25DC1B7-7111-444F-9CAE-D9A57CB7B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114550"/>
            <a:ext cx="108204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CD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ADC016-4049-4765-A8A2-E072188D3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62175"/>
            <a:ext cx="180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11217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217"/>
                </a:solidFill>
                <a:latin typeface="Arial"/>
                <a:ea typeface="Arial"/>
                <a:cs typeface="Arial"/>
              </a:rPr>
              <a:t>Guest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7272C3-1BA6-4216-BCD8-0F16B8F62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162175"/>
            <a:ext cx="3524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11217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217"/>
                </a:solidFill>
                <a:latin typeface="Arial"/>
                <a:ea typeface="Arial"/>
                <a:cs typeface="Arial"/>
              </a:rPr>
              <a:t>Explore the platform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042DB0-9A88-47A4-9CE0-3B6B77C22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162175"/>
            <a:ext cx="4914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11217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217"/>
                </a:solidFill>
                <a:latin typeface="Arial"/>
                <a:ea typeface="Arial"/>
                <a:cs typeface="Arial"/>
              </a:rPr>
              <a:t>View races and leaderboard; create an account</a:t>
            </a:r>
          </a:p>
        </p:txBody>
      </p:sp>
      <p:sp>
        <p:nvSpPr>
          <p:cNvPr id="12" name="table-row-1">
            <a:extLst xmlns:a="http://schemas.openxmlformats.org/drawingml/2006/main">
              <a:ext uri="{FF2B5EF4-FFF2-40B4-BE49-F238E27FC236}">
                <a16:creationId xmlns:a16="http://schemas.microsoft.com/office/drawing/2014/main" id="{BCED911B-49FC-4284-9336-295375C21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762250"/>
            <a:ext cx="108204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C9CCD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0C211D-1CD5-4294-8DB5-44EAF58E4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09875"/>
            <a:ext cx="180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11217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217"/>
                </a:solidFill>
                <a:latin typeface="Arial"/>
                <a:ea typeface="Arial"/>
                <a:cs typeface="Arial"/>
              </a:rPr>
              <a:t>Horse Owner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65D253-EF2B-4235-AF24-42C0D5E2A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809875"/>
            <a:ext cx="3524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11217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217"/>
                </a:solidFill>
                <a:latin typeface="Arial"/>
                <a:ea typeface="Arial"/>
                <a:cs typeface="Arial"/>
              </a:rPr>
              <a:t>Manage horses and entries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FBAF19-63D2-4709-BBB3-6D7188570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809875"/>
            <a:ext cx="4914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11217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217"/>
                </a:solidFill>
                <a:latin typeface="Arial"/>
                <a:ea typeface="Arial"/>
                <a:cs typeface="Arial"/>
              </a:rPr>
              <a:t>Create horses, invite jockeys, submit race pairs</a:t>
            </a:r>
          </a:p>
        </p:txBody>
      </p:sp>
      <p:sp>
        <p:nvSpPr>
          <p:cNvPr id="16" name="table-row-2">
            <a:extLst xmlns:a="http://schemas.openxmlformats.org/drawingml/2006/main">
              <a:ext uri="{FF2B5EF4-FFF2-40B4-BE49-F238E27FC236}">
                <a16:creationId xmlns:a16="http://schemas.microsoft.com/office/drawing/2014/main" id="{2BB80733-C7EB-4E80-9D82-BA2004CBF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09950"/>
            <a:ext cx="108204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CD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FA633B-0591-457C-89F1-D002626AF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57575"/>
            <a:ext cx="180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11217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217"/>
                </a:solidFill>
                <a:latin typeface="Arial"/>
                <a:ea typeface="Arial"/>
                <a:cs typeface="Arial"/>
              </a:rPr>
              <a:t>Jockey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53B5D9-A276-4D1A-A26A-9D212BE1E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457575"/>
            <a:ext cx="3524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11217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217"/>
                </a:solidFill>
                <a:latin typeface="Arial"/>
                <a:ea typeface="Arial"/>
                <a:cs typeface="Arial"/>
              </a:rPr>
              <a:t>Confirm collaboration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5F18CA-3A04-49F4-A979-FDC18EFA9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457575"/>
            <a:ext cx="4914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11217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217"/>
                </a:solidFill>
                <a:latin typeface="Arial"/>
                <a:ea typeface="Arial"/>
                <a:cs typeface="Arial"/>
              </a:rPr>
              <a:t>Accept or reject invitations; view assignments</a:t>
            </a:r>
          </a:p>
        </p:txBody>
      </p:sp>
      <p:sp>
        <p:nvSpPr>
          <p:cNvPr id="20" name="table-row-3">
            <a:extLst xmlns:a="http://schemas.openxmlformats.org/drawingml/2006/main">
              <a:ext uri="{FF2B5EF4-FFF2-40B4-BE49-F238E27FC236}">
                <a16:creationId xmlns:a16="http://schemas.microsoft.com/office/drawing/2014/main" id="{2886FCC4-F29E-48F3-B206-B1A5C1529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57650"/>
            <a:ext cx="108204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C9CCD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9CC2B62-7224-43D9-A092-0C27FBD78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05275"/>
            <a:ext cx="180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11217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217"/>
                </a:solidFill>
                <a:latin typeface="Arial"/>
                <a:ea typeface="Arial"/>
                <a:cs typeface="Arial"/>
              </a:rPr>
              <a:t>Referee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AF08C1C-2182-413F-BA80-6B0149D32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105275"/>
            <a:ext cx="3524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11217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217"/>
                </a:solidFill>
                <a:latin typeface="Arial"/>
                <a:ea typeface="Arial"/>
                <a:cs typeface="Arial"/>
              </a:rPr>
              <a:t>Operate the race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B4733E0-DBDB-4D46-A457-67C8A0853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105275"/>
            <a:ext cx="4914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11217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217"/>
                </a:solidFill>
                <a:latin typeface="Arial"/>
                <a:ea typeface="Arial"/>
                <a:cs typeface="Arial"/>
              </a:rPr>
              <a:t>Run fitness checks, start, simulate, and report</a:t>
            </a:r>
          </a:p>
        </p:txBody>
      </p:sp>
      <p:sp>
        <p:nvSpPr>
          <p:cNvPr id="24" name="table-row-4">
            <a:extLst xmlns:a="http://schemas.openxmlformats.org/drawingml/2006/main">
              <a:ext uri="{FF2B5EF4-FFF2-40B4-BE49-F238E27FC236}">
                <a16:creationId xmlns:a16="http://schemas.microsoft.com/office/drawing/2014/main" id="{2E36F4F4-BB36-4337-A7E3-7719B8EED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705350"/>
            <a:ext cx="108204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CD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24A1FDB-2856-46A6-AC3E-5E6F7C439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52975"/>
            <a:ext cx="180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11217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217"/>
                </a:solidFill>
                <a:latin typeface="Arial"/>
                <a:ea typeface="Arial"/>
                <a:cs typeface="Arial"/>
              </a:rPr>
              <a:t>Spectator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826D461-2E10-41ED-90CE-D18359E00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752975"/>
            <a:ext cx="3524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11217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217"/>
                </a:solidFill>
                <a:latin typeface="Arial"/>
                <a:ea typeface="Arial"/>
                <a:cs typeface="Arial"/>
              </a:rPr>
              <a:t>Follow and engage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CF18FCC-BE6B-4213-808D-9E9E5F33F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752975"/>
            <a:ext cx="4914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11217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217"/>
                </a:solidFill>
                <a:latin typeface="Arial"/>
                <a:ea typeface="Arial"/>
                <a:cs typeface="Arial"/>
              </a:rPr>
              <a:t>Predict with points; claim and redeem rewards</a:t>
            </a:r>
          </a:p>
        </p:txBody>
      </p:sp>
      <p:sp>
        <p:nvSpPr>
          <p:cNvPr id="28" name="table-row-5">
            <a:extLst xmlns:a="http://schemas.openxmlformats.org/drawingml/2006/main">
              <a:ext uri="{FF2B5EF4-FFF2-40B4-BE49-F238E27FC236}">
                <a16:creationId xmlns:a16="http://schemas.microsoft.com/office/drawing/2014/main" id="{0708C48F-A517-4700-916E-46F7C81B7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53050"/>
            <a:ext cx="108204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C9CCD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B97D9EF-1BC2-403A-B62B-1BB4872D6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400675"/>
            <a:ext cx="180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11217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217"/>
                </a:solidFill>
                <a:latin typeface="Arial"/>
                <a:ea typeface="Arial"/>
                <a:cs typeface="Arial"/>
              </a:rPr>
              <a:t>Administrator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7714749-1225-492D-8C05-6C2061F57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5400675"/>
            <a:ext cx="3524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11217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217"/>
                </a:solidFill>
                <a:latin typeface="Arial"/>
                <a:ea typeface="Arial"/>
                <a:cs typeface="Arial"/>
              </a:rPr>
              <a:t>Govern and control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DC555E1-D6B0-4226-86DE-C7CE666E9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400675"/>
            <a:ext cx="4914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11217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217"/>
                </a:solidFill>
                <a:latin typeface="Arial"/>
                <a:ea typeface="Arial"/>
                <a:cs typeface="Arial"/>
              </a:rPr>
              <a:t>Approve accounts/pairs, create events, publish results</a:t>
            </a:r>
          </a:p>
        </p:txBody>
      </p:sp>
      <p:sp>
        <p:nvSpPr>
          <p:cNvPr id="32" name="footer-label-3">
            <a:extLst xmlns:a="http://schemas.openxmlformats.org/drawingml/2006/main">
              <a:ext uri="{FF2B5EF4-FFF2-40B4-BE49-F238E27FC236}">
                <a16:creationId xmlns:a16="http://schemas.microsoft.com/office/drawing/2014/main" id="{1026D2B3-CAD9-4F7E-9FD8-21C6D4802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198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0646F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60646F"/>
                </a:solidFill>
                <a:latin typeface="Arial"/>
                <a:ea typeface="Arial"/>
                <a:cs typeface="Arial"/>
              </a:rPr>
              <a:t>EQUIX · SWP391</a:t>
            </a:r>
          </a:p>
        </p:txBody>
      </p:sp>
      <p:sp>
        <p:nvSpPr>
          <p:cNvPr id="33" name="footer-page-3">
            <a:extLst xmlns:a="http://schemas.openxmlformats.org/drawingml/2006/main">
              <a:ext uri="{FF2B5EF4-FFF2-40B4-BE49-F238E27FC236}">
                <a16:creationId xmlns:a16="http://schemas.microsoft.com/office/drawing/2014/main" id="{009A8508-0CC3-442D-8279-8828E0842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817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60646F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0646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97126339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D0E1F31-E9FD-40D3-8B90-00355DEDA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11217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111217"/>
                </a:solidFill>
                <a:latin typeface="Arial"/>
                <a:ea typeface="Arial"/>
                <a:cs typeface="Arial"/>
              </a:rPr>
              <a:t>Three layers keep business rules independent of the UI</a:t>
            </a:r>
          </a:p>
        </p:txBody>
      </p:sp>
      <p:sp>
        <p:nvSpPr>
          <p:cNvPr id="2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B46C8E18-8C83-41FF-838A-6FBC1021D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962025"/>
            <a:ext cx="704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47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BC38FB73-8760-4BA4-B350-0E0E3ECFA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895350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0646F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0646F"/>
                </a:solidFill>
                <a:latin typeface="Arial"/>
                <a:ea typeface="Arial"/>
                <a:cs typeface="Arial"/>
              </a:rPr>
              <a:t>Every request passes through the API and authorization checks before SQL Server is updated.</a:t>
            </a:r>
          </a:p>
        </p:txBody>
      </p:sp>
      <p:cxnSp>
        <p:nvCxnSpPr>
          <p:cNvPr id="29" name="frontend-backend-connector"/>
          <p:cNvCxnSpPr/>
          <p:nvPr/>
        </p:nvCxnSpPr>
        <p:spPr>
          <a:xfrm xmlns:a="http://schemas.openxmlformats.org/drawingml/2006/main">
            <a:off x="3667125" y="2847975"/>
            <a:ext cx="10001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C9CCD2"/>
            </a:solidFill>
            <a:prstDash val="solid"/>
          </a:ln>
        </p:spPr>
      </p:cxnSp>
      <p:cxnSp>
        <p:nvCxnSpPr>
          <p:cNvPr id="30" name="backend-database-connector"/>
          <p:cNvCxnSpPr/>
          <p:nvPr/>
        </p:nvCxnSpPr>
        <p:spPr>
          <a:xfrm xmlns:a="http://schemas.openxmlformats.org/drawingml/2006/main">
            <a:off x="7524750" y="2847975"/>
            <a:ext cx="10001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C9CCD2"/>
            </a:solidFill>
            <a:prstDash val="solid"/>
          </a:ln>
        </p:spPr>
      </p:cxnSp>
      <p:sp>
        <p:nvSpPr>
          <p:cNvPr id="6" name="architecture-0">
            <a:extLst xmlns:a="http://schemas.openxmlformats.org/drawingml/2006/main">
              <a:ext uri="{FF2B5EF4-FFF2-40B4-BE49-F238E27FC236}">
                <a16:creationId xmlns:a16="http://schemas.microsoft.com/office/drawing/2014/main" id="{A77E2A97-57B2-43D9-B37A-3EE8EC658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3000375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E8F2FF"/>
          </a:solidFill>
          <a:ln xmlns:a="http://schemas.openxmlformats.org/drawingml/2006/main" w="9525">
            <a:solidFill>
              <a:srgbClr val="C9CCD2"/>
            </a:solidFill>
            <a:prstDash val="solid"/>
          </a:ln>
        </p:spPr>
      </p:sp>
      <p:sp>
        <p:nvSpPr>
          <p:cNvPr id="7" name="architecture-accent-0">
            <a:extLst xmlns:a="http://schemas.openxmlformats.org/drawingml/2006/main">
              <a:ext uri="{FF2B5EF4-FFF2-40B4-BE49-F238E27FC236}">
                <a16:creationId xmlns:a16="http://schemas.microsoft.com/office/drawing/2014/main" id="{7A90B5C1-194F-4820-B993-A8D5132AF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300037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0CA047-4419-4EE6-9712-1ABA76DE7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33600"/>
            <a:ext cx="2524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PRESENTATION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0FA161-673C-4EA6-A11E-7FB6CCA19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71750"/>
            <a:ext cx="25431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111217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11217"/>
                </a:solidFill>
                <a:latin typeface="Arial"/>
                <a:ea typeface="Arial"/>
                <a:cs typeface="Arial"/>
              </a:rPr>
              <a:t>ReactJS SPA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530CBD-DCA9-4E74-AD1A-FA9DD3EB9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38500"/>
            <a:ext cx="25431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0646F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60646F"/>
                </a:solidFill>
                <a:latin typeface="Arial"/>
                <a:ea typeface="Arial"/>
                <a:cs typeface="Arial"/>
              </a:rPr>
              <a:t>Role-based routing</a:t>
            </a:r>
          </a:p>
          <a:p xmlns:a="http://schemas.openxmlformats.org/drawingml/2006/main">
            <a:pPr algn="l">
              <a:defRPr sz="1350" b="0" i="0">
                <a:solidFill>
                  <a:srgbClr val="60646F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60646F"/>
                </a:solidFill>
                <a:latin typeface="Arial"/>
                <a:ea typeface="Arial"/>
                <a:cs typeface="Arial"/>
              </a:rPr>
              <a:t>Shared components</a:t>
            </a:r>
          </a:p>
          <a:p xmlns:a="http://schemas.openxmlformats.org/drawingml/2006/main">
            <a:pPr algn="l">
              <a:defRPr sz="1350" b="0" i="0">
                <a:solidFill>
                  <a:srgbClr val="60646F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60646F"/>
                </a:solidFill>
                <a:latin typeface="Arial"/>
                <a:ea typeface="Arial"/>
                <a:cs typeface="Arial"/>
              </a:rPr>
              <a:t>Real-time race tracking</a:t>
            </a:r>
          </a:p>
        </p:txBody>
      </p:sp>
      <p:sp>
        <p:nvSpPr>
          <p:cNvPr id="11" name="architecture-1">
            <a:extLst xmlns:a="http://schemas.openxmlformats.org/drawingml/2006/main">
              <a:ext uri="{FF2B5EF4-FFF2-40B4-BE49-F238E27FC236}">
                <a16:creationId xmlns:a16="http://schemas.microsoft.com/office/drawing/2014/main" id="{7DCD939D-EDF5-43EA-9FCE-E954118BB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790700"/>
            <a:ext cx="3000375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CE9E7"/>
          </a:solidFill>
          <a:ln xmlns:a="http://schemas.openxmlformats.org/drawingml/2006/main" w="9525">
            <a:solidFill>
              <a:srgbClr val="C9CCD2"/>
            </a:solidFill>
            <a:prstDash val="solid"/>
          </a:ln>
        </p:spPr>
      </p:sp>
      <p:sp>
        <p:nvSpPr>
          <p:cNvPr id="12" name="architecture-accent-1">
            <a:extLst xmlns:a="http://schemas.openxmlformats.org/drawingml/2006/main">
              <a:ext uri="{FF2B5EF4-FFF2-40B4-BE49-F238E27FC236}">
                <a16:creationId xmlns:a16="http://schemas.microsoft.com/office/drawing/2014/main" id="{0677C87C-9F5B-4151-BC8D-214E350FA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790700"/>
            <a:ext cx="300037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47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409420-F401-4FE1-A479-77052D362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133600"/>
            <a:ext cx="2524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E4473A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E4473A"/>
                </a:solidFill>
                <a:latin typeface="Arial"/>
                <a:ea typeface="Arial"/>
                <a:cs typeface="Arial"/>
              </a:rPr>
              <a:t>BUSINESS LOGIC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769C77-FDE3-4595-A0D4-89D7DF171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571750"/>
            <a:ext cx="25431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111217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11217"/>
                </a:solidFill>
                <a:latin typeface="Arial"/>
                <a:ea typeface="Arial"/>
                <a:cs typeface="Arial"/>
              </a:rPr>
              <a:t>Spring Boot REST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68371D-36E2-4D93-A007-373B8B305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38500"/>
            <a:ext cx="25431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0646F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60646F"/>
                </a:solidFill>
                <a:latin typeface="Arial"/>
                <a:ea typeface="Arial"/>
                <a:cs typeface="Arial"/>
              </a:rPr>
              <a:t>RBAC + JWT</a:t>
            </a:r>
          </a:p>
          <a:p xmlns:a="http://schemas.openxmlformats.org/drawingml/2006/main">
            <a:pPr algn="l">
              <a:defRPr sz="1350" b="0" i="0">
                <a:solidFill>
                  <a:srgbClr val="60646F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60646F"/>
                </a:solidFill>
                <a:latin typeface="Arial"/>
                <a:ea typeface="Arial"/>
                <a:cs typeface="Arial"/>
              </a:rPr>
              <a:t>Workflow services</a:t>
            </a:r>
          </a:p>
          <a:p xmlns:a="http://schemas.openxmlformats.org/drawingml/2006/main">
            <a:pPr algn="l">
              <a:defRPr sz="1350" b="0" i="0">
                <a:solidFill>
                  <a:srgbClr val="60646F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60646F"/>
                </a:solidFill>
                <a:latin typeface="Arial"/>
                <a:ea typeface="Arial"/>
                <a:cs typeface="Arial"/>
              </a:rPr>
              <a:t>Transaction validation</a:t>
            </a:r>
          </a:p>
        </p:txBody>
      </p:sp>
      <p:sp>
        <p:nvSpPr>
          <p:cNvPr id="16" name="architecture-2">
            <a:extLst xmlns:a="http://schemas.openxmlformats.org/drawingml/2006/main">
              <a:ext uri="{FF2B5EF4-FFF2-40B4-BE49-F238E27FC236}">
                <a16:creationId xmlns:a16="http://schemas.microsoft.com/office/drawing/2014/main" id="{EE65E13F-0BAD-4CDB-91D4-215D3FDB6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790700"/>
            <a:ext cx="3000375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E6F5EE"/>
          </a:solidFill>
          <a:ln xmlns:a="http://schemas.openxmlformats.org/drawingml/2006/main" w="9525">
            <a:solidFill>
              <a:srgbClr val="C9CCD2"/>
            </a:solidFill>
            <a:prstDash val="solid"/>
          </a:ln>
        </p:spPr>
      </p:sp>
      <p:sp>
        <p:nvSpPr>
          <p:cNvPr id="17" name="architecture-accent-2">
            <a:extLst xmlns:a="http://schemas.openxmlformats.org/drawingml/2006/main">
              <a:ext uri="{FF2B5EF4-FFF2-40B4-BE49-F238E27FC236}">
                <a16:creationId xmlns:a16="http://schemas.microsoft.com/office/drawing/2014/main" id="{FF197AA3-E758-444B-9EC0-212B4CD9D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790700"/>
            <a:ext cx="300037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9D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C072FA-631A-4F25-B0D9-2CFB6D1CE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2133600"/>
            <a:ext cx="2524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E9D62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E9D62"/>
                </a:solidFill>
                <a:latin typeface="Arial"/>
                <a:ea typeface="Arial"/>
                <a:cs typeface="Arial"/>
              </a:rPr>
              <a:t>DATA ACCESS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637EEF-7681-40EC-B672-B2C5E6DA0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2571750"/>
            <a:ext cx="25431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111217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11217"/>
                </a:solidFill>
                <a:latin typeface="Arial"/>
                <a:ea typeface="Arial"/>
                <a:cs typeface="Arial"/>
              </a:rPr>
              <a:t>SQL Server 2019+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D8B8EE-AD9D-44E3-8E4E-1C236B75C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3238500"/>
            <a:ext cx="25431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0646F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60646F"/>
                </a:solidFill>
                <a:latin typeface="Arial"/>
                <a:ea typeface="Arial"/>
                <a:cs typeface="Arial"/>
              </a:rPr>
              <a:t>Spring Data JPA</a:t>
            </a:r>
          </a:p>
          <a:p xmlns:a="http://schemas.openxmlformats.org/drawingml/2006/main">
            <a:pPr algn="l">
              <a:defRPr sz="1350" b="0" i="0">
                <a:solidFill>
                  <a:srgbClr val="60646F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60646F"/>
                </a:solidFill>
                <a:latin typeface="Arial"/>
                <a:ea typeface="Arial"/>
                <a:cs typeface="Arial"/>
              </a:rPr>
              <a:t>Foreign keys + indexes</a:t>
            </a:r>
          </a:p>
          <a:p xmlns:a="http://schemas.openxmlformats.org/drawingml/2006/main">
            <a:pPr algn="l">
              <a:defRPr sz="1350" b="0" i="0">
                <a:solidFill>
                  <a:srgbClr val="60646F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60646F"/>
                </a:solidFill>
                <a:latin typeface="Arial"/>
                <a:ea typeface="Arial"/>
                <a:cs typeface="Arial"/>
              </a:rPr>
              <a:t>Transaction integrity</a:t>
            </a:r>
          </a:p>
        </p:txBody>
      </p:sp>
      <p:sp>
        <p:nvSpPr>
          <p:cNvPr id="21" name="security-band">
            <a:extLst xmlns:a="http://schemas.openxmlformats.org/drawingml/2006/main">
              <a:ext uri="{FF2B5EF4-FFF2-40B4-BE49-F238E27FC236}">
                <a16:creationId xmlns:a16="http://schemas.microsoft.com/office/drawing/2014/main" id="{8C0C5837-CCA0-4C4B-AC36-414D85FEE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10150"/>
            <a:ext cx="10858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01117"/>
          </a:solidFill>
          <a:ln xmlns:a="http://schemas.openxmlformats.org/drawingml/2006/main" w="9525">
            <a:solidFill>
              <a:srgbClr val="C9CCD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CB89F97-C469-4335-9826-CAB702805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2387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E4473A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E4473A"/>
                </a:solidFill>
                <a:latin typeface="Arial"/>
                <a:ea typeface="Arial"/>
                <a:cs typeface="Arial"/>
              </a:rPr>
              <a:t>Security flow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175A959-532C-45A1-B94B-2E6F730AD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181600"/>
            <a:ext cx="8305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2105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Sign in → JWT carries user/role → Spring Security authenticates → Service validates rules → JPA commits transaction</a:t>
            </a:r>
          </a:p>
        </p:txBody>
      </p:sp>
      <p:sp>
        <p:nvSpPr>
          <p:cNvPr id="24" name="footer-label-4">
            <a:extLst xmlns:a="http://schemas.openxmlformats.org/drawingml/2006/main">
              <a:ext uri="{FF2B5EF4-FFF2-40B4-BE49-F238E27FC236}">
                <a16:creationId xmlns:a16="http://schemas.microsoft.com/office/drawing/2014/main" id="{65B933A0-04A7-42A2-B5E4-EF95C5BE8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198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0646F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60646F"/>
                </a:solidFill>
                <a:latin typeface="Arial"/>
                <a:ea typeface="Arial"/>
                <a:cs typeface="Arial"/>
              </a:rPr>
              <a:t>EQUIX · SWP391</a:t>
            </a:r>
          </a:p>
        </p:txBody>
      </p:sp>
      <p:sp>
        <p:nvSpPr>
          <p:cNvPr id="25" name="footer-page-4">
            <a:extLst xmlns:a="http://schemas.openxmlformats.org/drawingml/2006/main">
              <a:ext uri="{FF2B5EF4-FFF2-40B4-BE49-F238E27FC236}">
                <a16:creationId xmlns:a16="http://schemas.microsoft.com/office/drawing/2014/main" id="{927DA84D-7A98-4420-974F-209DB7DB3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817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60646F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0646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01518113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185A149-ABC4-45E8-A957-323815F09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11217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111217"/>
                </a:solidFill>
                <a:latin typeface="Arial"/>
                <a:ea typeface="Arial"/>
                <a:cs typeface="Arial"/>
              </a:rPr>
              <a:t>Five roles form a system of mutual control</a:t>
            </a:r>
          </a:p>
        </p:txBody>
      </p:sp>
      <p:sp>
        <p:nvSpPr>
          <p:cNvPr id="2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4024DC28-3DAF-4ACE-BA3E-6D1CAF897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962025"/>
            <a:ext cx="704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47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role-0">
            <a:extLst xmlns:a="http://schemas.openxmlformats.org/drawingml/2006/main">
              <a:ext uri="{FF2B5EF4-FFF2-40B4-BE49-F238E27FC236}">
                <a16:creationId xmlns:a16="http://schemas.microsoft.com/office/drawing/2014/main" id="{8476F419-9A5B-43B0-A8D9-BD59228FA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76400"/>
            <a:ext cx="2019300" cy="4019550"/>
          </a:xfrm>
          <a:prstGeom xmlns:a="http://schemas.openxmlformats.org/drawingml/2006/main" prst="roundRect">
            <a:avLst>
              <a:gd name="adj" fmla="val 3774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C9CCD2"/>
            </a:solidFill>
            <a:prstDash val="solid"/>
          </a:ln>
        </p:spPr>
      </p:sp>
      <p:sp>
        <p:nvSpPr>
          <p:cNvPr id="4" name="role-num-0-circle">
            <a:extLst xmlns:a="http://schemas.openxmlformats.org/drawingml/2006/main">
              <a:ext uri="{FF2B5EF4-FFF2-40B4-BE49-F238E27FC236}">
                <a16:creationId xmlns:a16="http://schemas.microsoft.com/office/drawing/2014/main" id="{1BFE735C-C6CF-42B6-AFEB-3672D6F2E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050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2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ole-num-0-text">
            <a:extLst xmlns:a="http://schemas.openxmlformats.org/drawingml/2006/main">
              <a:ext uri="{FF2B5EF4-FFF2-40B4-BE49-F238E27FC236}">
                <a16:creationId xmlns:a16="http://schemas.microsoft.com/office/drawing/2014/main" id="{E494D9C1-F9EE-49B9-B078-18ED39BFF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1452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2DB08B-66A7-47E8-B49A-7A092FA16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90800"/>
            <a:ext cx="1619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11217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11217"/>
                </a:solidFill>
                <a:latin typeface="Arial"/>
                <a:ea typeface="Arial"/>
                <a:cs typeface="Arial"/>
              </a:rPr>
              <a:t>Horse Owner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E2A010-4E75-4032-9700-D680BE343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43300"/>
            <a:ext cx="16192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0646F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0646F"/>
                </a:solidFill>
                <a:latin typeface="Arial"/>
                <a:ea typeface="Arial"/>
                <a:cs typeface="Arial"/>
              </a:rPr>
              <a:t>Own horse records</a:t>
            </a:r>
          </a:p>
          <a:p xmlns:a="http://schemas.openxmlformats.org/drawingml/2006/main">
            <a:pPr algn="l">
              <a:defRPr sz="1275" b="0" i="0">
                <a:solidFill>
                  <a:srgbClr val="60646F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0646F"/>
                </a:solidFill>
                <a:latin typeface="Arial"/>
                <a:ea typeface="Arial"/>
                <a:cs typeface="Arial"/>
              </a:rPr>
              <a:t>Invite jockeys</a:t>
            </a:r>
          </a:p>
          <a:p xmlns:a="http://schemas.openxmlformats.org/drawingml/2006/main">
            <a:pPr algn="l">
              <a:defRPr sz="1275" b="0" i="0">
                <a:solidFill>
                  <a:srgbClr val="60646F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0646F"/>
                </a:solidFill>
                <a:latin typeface="Arial"/>
                <a:ea typeface="Arial"/>
                <a:cs typeface="Arial"/>
              </a:rPr>
              <a:t>Register for races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5C7A88-93B5-4658-97D6-380356CC6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5780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0646F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60646F"/>
                </a:solidFill>
                <a:latin typeface="Arial"/>
                <a:ea typeface="Arial"/>
                <a:cs typeface="Arial"/>
              </a:rPr>
              <a:t>ISOLATED SCOPE</a:t>
            </a:r>
          </a:p>
        </p:txBody>
      </p:sp>
      <p:sp>
        <p:nvSpPr>
          <p:cNvPr id="9" name="role-1">
            <a:extLst xmlns:a="http://schemas.openxmlformats.org/drawingml/2006/main">
              <a:ext uri="{FF2B5EF4-FFF2-40B4-BE49-F238E27FC236}">
                <a16:creationId xmlns:a16="http://schemas.microsoft.com/office/drawing/2014/main" id="{782FE689-B2CB-4AB1-A221-26CBA3E7E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676400"/>
            <a:ext cx="2019300" cy="4019550"/>
          </a:xfrm>
          <a:prstGeom xmlns:a="http://schemas.openxmlformats.org/drawingml/2006/main" prst="roundRect">
            <a:avLst>
              <a:gd name="adj" fmla="val 3774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C9CCD2"/>
            </a:solidFill>
            <a:prstDash val="solid"/>
          </a:ln>
        </p:spPr>
      </p:sp>
      <p:sp>
        <p:nvSpPr>
          <p:cNvPr id="10" name="role-num-1-circle">
            <a:extLst xmlns:a="http://schemas.openxmlformats.org/drawingml/2006/main">
              <a:ext uri="{FF2B5EF4-FFF2-40B4-BE49-F238E27FC236}">
                <a16:creationId xmlns:a16="http://schemas.microsoft.com/office/drawing/2014/main" id="{AB1A42E0-B3A4-4618-9223-30B432695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9050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2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ole-num-1-text">
            <a:extLst xmlns:a="http://schemas.openxmlformats.org/drawingml/2006/main">
              <a:ext uri="{FF2B5EF4-FFF2-40B4-BE49-F238E27FC236}">
                <a16:creationId xmlns:a16="http://schemas.microsoft.com/office/drawing/2014/main" id="{017DD610-B7DE-4197-8AED-15FB2896A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91452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AB74D2-1116-49C6-9DE7-9A97FBCF4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590800"/>
            <a:ext cx="1619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11217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11217"/>
                </a:solidFill>
                <a:latin typeface="Arial"/>
                <a:ea typeface="Arial"/>
                <a:cs typeface="Arial"/>
              </a:rPr>
              <a:t>Jockey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A185CB-A42D-4ABB-8B56-D1E7C0884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543300"/>
            <a:ext cx="16192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0646F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0646F"/>
                </a:solidFill>
                <a:latin typeface="Arial"/>
                <a:ea typeface="Arial"/>
                <a:cs typeface="Arial"/>
              </a:rPr>
              <a:t>Decide invitations</a:t>
            </a:r>
          </a:p>
          <a:p xmlns:a="http://schemas.openxmlformats.org/drawingml/2006/main">
            <a:pPr algn="l">
              <a:defRPr sz="1275" b="0" i="0">
                <a:solidFill>
                  <a:srgbClr val="60646F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0646F"/>
                </a:solidFill>
                <a:latin typeface="Arial"/>
                <a:ea typeface="Arial"/>
                <a:cs typeface="Arial"/>
              </a:rPr>
              <a:t>Maintain pairings</a:t>
            </a:r>
          </a:p>
          <a:p xmlns:a="http://schemas.openxmlformats.org/drawingml/2006/main">
            <a:pPr algn="l">
              <a:defRPr sz="1275" b="0" i="0">
                <a:solidFill>
                  <a:srgbClr val="60646F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0646F"/>
                </a:solidFill>
                <a:latin typeface="Arial"/>
                <a:ea typeface="Arial"/>
                <a:cs typeface="Arial"/>
              </a:rPr>
              <a:t>Track performance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53A40F-B3A5-456E-8023-FD7CC2D0F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25780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0646F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60646F"/>
                </a:solidFill>
                <a:latin typeface="Arial"/>
                <a:ea typeface="Arial"/>
                <a:cs typeface="Arial"/>
              </a:rPr>
              <a:t>ISOLATED SCOPE</a:t>
            </a:r>
          </a:p>
        </p:txBody>
      </p:sp>
      <p:sp>
        <p:nvSpPr>
          <p:cNvPr id="15" name="role-2">
            <a:extLst xmlns:a="http://schemas.openxmlformats.org/drawingml/2006/main">
              <a:ext uri="{FF2B5EF4-FFF2-40B4-BE49-F238E27FC236}">
                <a16:creationId xmlns:a16="http://schemas.microsoft.com/office/drawing/2014/main" id="{9CB25CD1-E4F9-461F-B0A5-9FCA9CE0E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676400"/>
            <a:ext cx="2019300" cy="4019550"/>
          </a:xfrm>
          <a:prstGeom xmlns:a="http://schemas.openxmlformats.org/drawingml/2006/main" prst="roundRect">
            <a:avLst>
              <a:gd name="adj" fmla="val 3774"/>
            </a:avLst>
          </a:prstGeom>
          <a:solidFill xmlns:a="http://schemas.openxmlformats.org/drawingml/2006/main">
            <a:srgbClr val="101117"/>
          </a:solidFill>
          <a:ln xmlns:a="http://schemas.openxmlformats.org/drawingml/2006/main" w="9525">
            <a:solidFill>
              <a:srgbClr val="C9CCD2"/>
            </a:solidFill>
            <a:prstDash val="solid"/>
          </a:ln>
        </p:spPr>
      </p:sp>
      <p:sp>
        <p:nvSpPr>
          <p:cNvPr id="16" name="role-num-2-circle">
            <a:extLst xmlns:a="http://schemas.openxmlformats.org/drawingml/2006/main">
              <a:ext uri="{FF2B5EF4-FFF2-40B4-BE49-F238E27FC236}">
                <a16:creationId xmlns:a16="http://schemas.microsoft.com/office/drawing/2014/main" id="{027AB363-32C4-4798-AA71-1BEB6FA0D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9050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47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role-num-2-text">
            <a:extLst xmlns:a="http://schemas.openxmlformats.org/drawingml/2006/main">
              <a:ext uri="{FF2B5EF4-FFF2-40B4-BE49-F238E27FC236}">
                <a16:creationId xmlns:a16="http://schemas.microsoft.com/office/drawing/2014/main" id="{21DF5D32-C01B-4B83-941D-7EFAC4181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91452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B34D57-282C-47C9-8BB9-86AC43084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590800"/>
            <a:ext cx="1619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Referee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0D34DE-30CF-4D2C-B9BB-2C9F974D5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543300"/>
            <a:ext cx="16192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DADCE2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DADCE2"/>
                </a:solidFill>
                <a:latin typeface="Arial"/>
                <a:ea typeface="Arial"/>
                <a:cs typeface="Arial"/>
              </a:rPr>
              <a:t>Run pre-race checks</a:t>
            </a:r>
          </a:p>
          <a:p xmlns:a="http://schemas.openxmlformats.org/drawingml/2006/main">
            <a:pPr algn="l">
              <a:defRPr sz="1275" b="0" i="0">
                <a:solidFill>
                  <a:srgbClr val="DADCE2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DADCE2"/>
                </a:solidFill>
                <a:latin typeface="Arial"/>
                <a:ea typeface="Arial"/>
                <a:cs typeface="Arial"/>
              </a:rPr>
              <a:t>Operate live races</a:t>
            </a:r>
          </a:p>
          <a:p xmlns:a="http://schemas.openxmlformats.org/drawingml/2006/main">
            <a:pPr algn="l">
              <a:defRPr sz="1275" b="0" i="0">
                <a:solidFill>
                  <a:srgbClr val="DADCE2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DADCE2"/>
                </a:solidFill>
                <a:latin typeface="Arial"/>
                <a:ea typeface="Arial"/>
                <a:cs typeface="Arial"/>
              </a:rPr>
              <a:t>Sign reports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D66296-1365-40B4-9030-FB87CA69A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525780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E4473A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E4473A"/>
                </a:solidFill>
                <a:latin typeface="Arial"/>
                <a:ea typeface="Arial"/>
                <a:cs typeface="Arial"/>
              </a:rPr>
              <a:t>ASSIGNED ONLY</a:t>
            </a:r>
          </a:p>
        </p:txBody>
      </p:sp>
      <p:sp>
        <p:nvSpPr>
          <p:cNvPr id="21" name="role-3">
            <a:extLst xmlns:a="http://schemas.openxmlformats.org/drawingml/2006/main">
              <a:ext uri="{FF2B5EF4-FFF2-40B4-BE49-F238E27FC236}">
                <a16:creationId xmlns:a16="http://schemas.microsoft.com/office/drawing/2014/main" id="{0EDC7BE8-CF70-4541-A680-B92FC313C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676400"/>
            <a:ext cx="2019300" cy="4019550"/>
          </a:xfrm>
          <a:prstGeom xmlns:a="http://schemas.openxmlformats.org/drawingml/2006/main" prst="roundRect">
            <a:avLst>
              <a:gd name="adj" fmla="val 3774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C9CCD2"/>
            </a:solidFill>
            <a:prstDash val="solid"/>
          </a:ln>
        </p:spPr>
      </p:sp>
      <p:sp>
        <p:nvSpPr>
          <p:cNvPr id="22" name="role-num-3-circle">
            <a:extLst xmlns:a="http://schemas.openxmlformats.org/drawingml/2006/main">
              <a:ext uri="{FF2B5EF4-FFF2-40B4-BE49-F238E27FC236}">
                <a16:creationId xmlns:a16="http://schemas.microsoft.com/office/drawing/2014/main" id="{A2739283-A73E-418B-900C-5E39F50B4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9050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2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role-num-3-text">
            <a:extLst xmlns:a="http://schemas.openxmlformats.org/drawingml/2006/main">
              <a:ext uri="{FF2B5EF4-FFF2-40B4-BE49-F238E27FC236}">
                <a16:creationId xmlns:a16="http://schemas.microsoft.com/office/drawing/2014/main" id="{FF3664C3-0270-4C1C-87F2-99A660D9E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91452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EFBFE37-4554-4350-8967-F5FCEC749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590800"/>
            <a:ext cx="1619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11217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11217"/>
                </a:solidFill>
                <a:latin typeface="Arial"/>
                <a:ea typeface="Arial"/>
                <a:cs typeface="Arial"/>
              </a:rPr>
              <a:t>Spectator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8D2B53D-AA30-40DB-8F5C-000F92926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543300"/>
            <a:ext cx="16192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0646F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0646F"/>
                </a:solidFill>
                <a:latin typeface="Arial"/>
                <a:ea typeface="Arial"/>
                <a:cs typeface="Arial"/>
              </a:rPr>
              <a:t>Watch races</a:t>
            </a:r>
          </a:p>
          <a:p xmlns:a="http://schemas.openxmlformats.org/drawingml/2006/main">
            <a:pPr algn="l">
              <a:defRPr sz="1275" b="0" i="0">
                <a:solidFill>
                  <a:srgbClr val="60646F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0646F"/>
                </a:solidFill>
                <a:latin typeface="Arial"/>
                <a:ea typeface="Arial"/>
                <a:cs typeface="Arial"/>
              </a:rPr>
              <a:t>Predict with points</a:t>
            </a:r>
          </a:p>
          <a:p xmlns:a="http://schemas.openxmlformats.org/drawingml/2006/main">
            <a:pPr algn="l">
              <a:defRPr sz="1275" b="0" i="0">
                <a:solidFill>
                  <a:srgbClr val="60646F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0646F"/>
                </a:solidFill>
                <a:latin typeface="Arial"/>
                <a:ea typeface="Arial"/>
                <a:cs typeface="Arial"/>
              </a:rPr>
              <a:t>Claim rewards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935AC71-AF42-4508-83A9-68F9BFE18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25780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0646F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60646F"/>
                </a:solidFill>
                <a:latin typeface="Arial"/>
                <a:ea typeface="Arial"/>
                <a:cs typeface="Arial"/>
              </a:rPr>
              <a:t>ISOLATED SCOPE</a:t>
            </a:r>
          </a:p>
        </p:txBody>
      </p:sp>
      <p:sp>
        <p:nvSpPr>
          <p:cNvPr id="27" name="role-4">
            <a:extLst xmlns:a="http://schemas.openxmlformats.org/drawingml/2006/main">
              <a:ext uri="{FF2B5EF4-FFF2-40B4-BE49-F238E27FC236}">
                <a16:creationId xmlns:a16="http://schemas.microsoft.com/office/drawing/2014/main" id="{31256AED-878B-4544-B8B7-B8B8406D5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1676400"/>
            <a:ext cx="2019300" cy="4019550"/>
          </a:xfrm>
          <a:prstGeom xmlns:a="http://schemas.openxmlformats.org/drawingml/2006/main" prst="roundRect">
            <a:avLst>
              <a:gd name="adj" fmla="val 3774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C9CCD2"/>
            </a:solidFill>
            <a:prstDash val="solid"/>
          </a:ln>
        </p:spPr>
      </p:sp>
      <p:sp>
        <p:nvSpPr>
          <p:cNvPr id="28" name="role-num-4-circle">
            <a:extLst xmlns:a="http://schemas.openxmlformats.org/drawingml/2006/main">
              <a:ext uri="{FF2B5EF4-FFF2-40B4-BE49-F238E27FC236}">
                <a16:creationId xmlns:a16="http://schemas.microsoft.com/office/drawing/2014/main" id="{3A641501-1BC3-4E5A-8C78-6E810C93F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19050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2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role-num-4-text">
            <a:extLst xmlns:a="http://schemas.openxmlformats.org/drawingml/2006/main">
              <a:ext uri="{FF2B5EF4-FFF2-40B4-BE49-F238E27FC236}">
                <a16:creationId xmlns:a16="http://schemas.microsoft.com/office/drawing/2014/main" id="{0C431916-C328-415D-85B0-D9846B827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191452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B09BE15-63F8-477B-9F2B-1390BD27C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590800"/>
            <a:ext cx="1619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11217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11217"/>
                </a:solidFill>
                <a:latin typeface="Arial"/>
                <a:ea typeface="Arial"/>
                <a:cs typeface="Arial"/>
              </a:rPr>
              <a:t>Administrator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C1C7706-0424-427C-B5E3-2257AD4FE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543300"/>
            <a:ext cx="16192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0646F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0646F"/>
                </a:solidFill>
                <a:latin typeface="Arial"/>
                <a:ea typeface="Arial"/>
                <a:cs typeface="Arial"/>
              </a:rPr>
              <a:t>Create events and races</a:t>
            </a:r>
          </a:p>
          <a:p xmlns:a="http://schemas.openxmlformats.org/drawingml/2006/main">
            <a:pPr algn="l">
              <a:defRPr sz="1275" b="0" i="0">
                <a:solidFill>
                  <a:srgbClr val="60646F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0646F"/>
                </a:solidFill>
                <a:latin typeface="Arial"/>
                <a:ea typeface="Arial"/>
                <a:cs typeface="Arial"/>
              </a:rPr>
              <a:t>Approve data</a:t>
            </a:r>
          </a:p>
          <a:p xmlns:a="http://schemas.openxmlformats.org/drawingml/2006/main">
            <a:pPr algn="l">
              <a:defRPr sz="1275" b="0" i="0">
                <a:solidFill>
                  <a:srgbClr val="60646F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0646F"/>
                </a:solidFill>
                <a:latin typeface="Arial"/>
                <a:ea typeface="Arial"/>
                <a:cs typeface="Arial"/>
              </a:rPr>
              <a:t>Publish results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994584B-ED49-4CB2-AFD5-1271B7B37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525780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0646F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60646F"/>
                </a:solidFill>
                <a:latin typeface="Arial"/>
                <a:ea typeface="Arial"/>
                <a:cs typeface="Arial"/>
              </a:rPr>
              <a:t>ISOLATED SCOPE</a:t>
            </a:r>
          </a:p>
        </p:txBody>
      </p:sp>
      <p:sp>
        <p:nvSpPr>
          <p:cNvPr id="33" name="footer-label-5">
            <a:extLst xmlns:a="http://schemas.openxmlformats.org/drawingml/2006/main">
              <a:ext uri="{FF2B5EF4-FFF2-40B4-BE49-F238E27FC236}">
                <a16:creationId xmlns:a16="http://schemas.microsoft.com/office/drawing/2014/main" id="{333C5F18-57C9-4B6D-9126-EA95A8A76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198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0646F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60646F"/>
                </a:solidFill>
                <a:latin typeface="Arial"/>
                <a:ea typeface="Arial"/>
                <a:cs typeface="Arial"/>
              </a:rPr>
              <a:t>EQUIX · SWP391</a:t>
            </a:r>
          </a:p>
        </p:txBody>
      </p:sp>
      <p:sp>
        <p:nvSpPr>
          <p:cNvPr id="34" name="footer-page-5">
            <a:extLst xmlns:a="http://schemas.openxmlformats.org/drawingml/2006/main">
              <a:ext uri="{FF2B5EF4-FFF2-40B4-BE49-F238E27FC236}">
                <a16:creationId xmlns:a16="http://schemas.microsoft.com/office/drawing/2014/main" id="{B27BCFAF-7D6D-437E-8B01-4365755E0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817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60646F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0646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22755266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9344FBE-09E4-4A82-B6DC-F76F79813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11217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111217"/>
                </a:solidFill>
                <a:latin typeface="Arial"/>
                <a:ea typeface="Arial"/>
                <a:cs typeface="Arial"/>
              </a:rPr>
              <a:t>A pairing can race only after six validation steps</a:t>
            </a:r>
          </a:p>
        </p:txBody>
      </p:sp>
      <p:sp>
        <p:nvSpPr>
          <p:cNvPr id="2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3C5107CF-C8FC-4359-9AB4-2D04F3467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962025"/>
            <a:ext cx="704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47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67528048-903D-476A-9A33-86B0BBA46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895350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0646F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0646F"/>
                </a:solidFill>
                <a:latin typeface="Arial"/>
                <a:ea typeface="Arial"/>
                <a:cs typeface="Arial"/>
              </a:rPr>
              <a:t>The one-to-one constraint is stored as a pairing contract, not as temporary UI state.</a:t>
            </a:r>
          </a:p>
        </p:txBody>
      </p:sp>
      <p:cxnSp>
        <p:nvCxnSpPr>
          <p:cNvPr id="46" name="pair-flow-0"/>
          <p:cNvCxnSpPr/>
          <p:nvPr/>
        </p:nvCxnSpPr>
        <p:spPr>
          <a:xfrm xmlns:a="http://schemas.openxmlformats.org/drawingml/2006/main">
            <a:off x="2000250" y="3333750"/>
            <a:ext cx="9144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C9CCD2"/>
            </a:solidFill>
            <a:prstDash val="solid"/>
          </a:ln>
        </p:spPr>
      </p:cxnSp>
      <p:cxnSp>
        <p:nvCxnSpPr>
          <p:cNvPr id="47" name="pair-flow-1"/>
          <p:cNvCxnSpPr/>
          <p:nvPr/>
        </p:nvCxnSpPr>
        <p:spPr>
          <a:xfrm xmlns:a="http://schemas.openxmlformats.org/drawingml/2006/main">
            <a:off x="3810000" y="3333750"/>
            <a:ext cx="9144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C9CCD2"/>
            </a:solidFill>
            <a:prstDash val="solid"/>
          </a:ln>
        </p:spPr>
      </p:cxnSp>
      <p:cxnSp>
        <p:nvCxnSpPr>
          <p:cNvPr id="48" name="pair-flow-2"/>
          <p:cNvCxnSpPr/>
          <p:nvPr/>
        </p:nvCxnSpPr>
        <p:spPr>
          <a:xfrm xmlns:a="http://schemas.openxmlformats.org/drawingml/2006/main">
            <a:off x="5619750" y="3333750"/>
            <a:ext cx="9144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C9CCD2"/>
            </a:solidFill>
            <a:prstDash val="solid"/>
          </a:ln>
        </p:spPr>
      </p:cxnSp>
      <p:cxnSp>
        <p:nvCxnSpPr>
          <p:cNvPr id="49" name="pair-flow-3"/>
          <p:cNvCxnSpPr/>
          <p:nvPr/>
        </p:nvCxnSpPr>
        <p:spPr>
          <a:xfrm xmlns:a="http://schemas.openxmlformats.org/drawingml/2006/main">
            <a:off x="7429500" y="3333750"/>
            <a:ext cx="9144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C9CCD2"/>
            </a:solidFill>
            <a:prstDash val="solid"/>
          </a:ln>
        </p:spPr>
      </p:cxnSp>
      <p:cxnSp>
        <p:nvCxnSpPr>
          <p:cNvPr id="50" name="pair-flow-4"/>
          <p:cNvCxnSpPr/>
          <p:nvPr/>
        </p:nvCxnSpPr>
        <p:spPr>
          <a:xfrm xmlns:a="http://schemas.openxmlformats.org/drawingml/2006/main">
            <a:off x="9239250" y="3333750"/>
            <a:ext cx="9144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C9CCD2"/>
            </a:solidFill>
            <a:prstDash val="solid"/>
          </a:ln>
        </p:spPr>
      </p:cxnSp>
      <p:sp>
        <p:nvSpPr>
          <p:cNvPr id="9" name="pair-step-0">
            <a:extLst xmlns:a="http://schemas.openxmlformats.org/drawingml/2006/main">
              <a:ext uri="{FF2B5EF4-FFF2-40B4-BE49-F238E27FC236}">
                <a16:creationId xmlns:a16="http://schemas.microsoft.com/office/drawing/2014/main" id="{3E876450-26BD-4F75-8E73-534783B82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33625"/>
            <a:ext cx="1485900" cy="215265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C9CCD2"/>
            </a:solidFill>
            <a:prstDash val="solid"/>
          </a:ln>
        </p:spPr>
      </p:sp>
      <p:sp>
        <p:nvSpPr>
          <p:cNvPr id="10" name="pair-step-num-0-circle">
            <a:extLst xmlns:a="http://schemas.openxmlformats.org/drawingml/2006/main">
              <a:ext uri="{FF2B5EF4-FFF2-40B4-BE49-F238E27FC236}">
                <a16:creationId xmlns:a16="http://schemas.microsoft.com/office/drawing/2014/main" id="{33FB84C1-DB8F-4489-BD32-0CB32ED54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764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47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air-step-num-0-text">
            <a:extLst xmlns:a="http://schemas.openxmlformats.org/drawingml/2006/main">
              <a:ext uri="{FF2B5EF4-FFF2-40B4-BE49-F238E27FC236}">
                <a16:creationId xmlns:a16="http://schemas.microsoft.com/office/drawing/2014/main" id="{781076A0-14A2-41B6-A288-CAD3D27E0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85975"/>
            <a:ext cx="419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1C056D-BD08-4FE5-AF08-10B6901C1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24150"/>
            <a:ext cx="11811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11217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11217"/>
                </a:solidFill>
                <a:latin typeface="Arial"/>
                <a:ea typeface="Arial"/>
                <a:cs typeface="Arial"/>
              </a:rPr>
              <a:t>Select horse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0E5F10-77EA-44E7-9219-C2757F361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62350"/>
            <a:ext cx="11811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60646F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0646F"/>
                </a:solidFill>
                <a:latin typeface="Arial"/>
                <a:ea typeface="Arial"/>
                <a:cs typeface="Arial"/>
              </a:rPr>
              <a:t>Horse must be</a:t>
            </a:r>
          </a:p>
          <a:p xmlns:a="http://schemas.openxmlformats.org/drawingml/2006/main">
            <a:pPr algn="ctr">
              <a:defRPr sz="1125" b="0" i="0">
                <a:solidFill>
                  <a:srgbClr val="60646F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0646F"/>
                </a:solidFill>
                <a:latin typeface="Arial"/>
                <a:ea typeface="Arial"/>
                <a:cs typeface="Arial"/>
              </a:rPr>
              <a:t>AVAILABLE</a:t>
            </a:r>
          </a:p>
        </p:txBody>
      </p:sp>
      <p:sp>
        <p:nvSpPr>
          <p:cNvPr id="14" name="pair-step-1">
            <a:extLst xmlns:a="http://schemas.openxmlformats.org/drawingml/2006/main">
              <a:ext uri="{FF2B5EF4-FFF2-40B4-BE49-F238E27FC236}">
                <a16:creationId xmlns:a16="http://schemas.microsoft.com/office/drawing/2014/main" id="{410E2BD5-FA15-4A81-9DDF-C872088F9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333625"/>
            <a:ext cx="1485900" cy="215265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C9CCD2"/>
            </a:solidFill>
            <a:prstDash val="solid"/>
          </a:ln>
        </p:spPr>
      </p:sp>
      <p:sp>
        <p:nvSpPr>
          <p:cNvPr id="15" name="pair-step-num-1-circle">
            <a:extLst xmlns:a="http://schemas.openxmlformats.org/drawingml/2006/main">
              <a:ext uri="{FF2B5EF4-FFF2-40B4-BE49-F238E27FC236}">
                <a16:creationId xmlns:a16="http://schemas.microsoft.com/office/drawing/2014/main" id="{B39ADC37-0FFD-4E38-B6F3-3B726E2A5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0764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47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pair-step-num-1-text">
            <a:extLst xmlns:a="http://schemas.openxmlformats.org/drawingml/2006/main">
              <a:ext uri="{FF2B5EF4-FFF2-40B4-BE49-F238E27FC236}">
                <a16:creationId xmlns:a16="http://schemas.microsoft.com/office/drawing/2014/main" id="{B9F1D05E-6FF1-4995-BB9B-A740AC5C4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085975"/>
            <a:ext cx="419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B4FD66-732D-413B-9E75-BFF8CFA16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724150"/>
            <a:ext cx="11811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11217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11217"/>
                </a:solidFill>
                <a:latin typeface="Arial"/>
                <a:ea typeface="Arial"/>
                <a:cs typeface="Arial"/>
              </a:rPr>
              <a:t>Send invitation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F6E3D7-EBF7-4701-93E3-DCE4550CB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562350"/>
            <a:ext cx="11811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60646F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0646F"/>
                </a:solidFill>
                <a:latin typeface="Arial"/>
                <a:ea typeface="Arial"/>
                <a:cs typeface="Arial"/>
              </a:rPr>
              <a:t>Owner selects a race</a:t>
            </a:r>
          </a:p>
          <a:p xmlns:a="http://schemas.openxmlformats.org/drawingml/2006/main">
            <a:pPr algn="ctr">
              <a:defRPr sz="1125" b="0" i="0">
                <a:solidFill>
                  <a:srgbClr val="60646F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0646F"/>
                </a:solidFill>
                <a:latin typeface="Arial"/>
                <a:ea typeface="Arial"/>
                <a:cs typeface="Arial"/>
              </a:rPr>
              <a:t>and jockey</a:t>
            </a:r>
          </a:p>
        </p:txBody>
      </p:sp>
      <p:sp>
        <p:nvSpPr>
          <p:cNvPr id="19" name="pair-step-2">
            <a:extLst xmlns:a="http://schemas.openxmlformats.org/drawingml/2006/main">
              <a:ext uri="{FF2B5EF4-FFF2-40B4-BE49-F238E27FC236}">
                <a16:creationId xmlns:a16="http://schemas.microsoft.com/office/drawing/2014/main" id="{D7E95E15-FA88-4E4E-A998-95A467B3D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333625"/>
            <a:ext cx="1485900" cy="215265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C9CCD2"/>
            </a:solidFill>
            <a:prstDash val="solid"/>
          </a:ln>
        </p:spPr>
      </p:sp>
      <p:sp>
        <p:nvSpPr>
          <p:cNvPr id="20" name="pair-step-num-2-circle">
            <a:extLst xmlns:a="http://schemas.openxmlformats.org/drawingml/2006/main">
              <a:ext uri="{FF2B5EF4-FFF2-40B4-BE49-F238E27FC236}">
                <a16:creationId xmlns:a16="http://schemas.microsoft.com/office/drawing/2014/main" id="{090C770A-1261-4D2B-AA47-60209436D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0764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47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pair-step-num-2-text">
            <a:extLst xmlns:a="http://schemas.openxmlformats.org/drawingml/2006/main">
              <a:ext uri="{FF2B5EF4-FFF2-40B4-BE49-F238E27FC236}">
                <a16:creationId xmlns:a16="http://schemas.microsoft.com/office/drawing/2014/main" id="{CAD3C250-8048-4E3F-85A7-12517F76C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085975"/>
            <a:ext cx="419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4C243E5-23E0-4CA3-B5A9-D22C63BB2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724150"/>
            <a:ext cx="11811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11217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11217"/>
                </a:solidFill>
                <a:latin typeface="Arial"/>
                <a:ea typeface="Arial"/>
                <a:cs typeface="Arial"/>
              </a:rPr>
              <a:t>Jockey accepts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56EC626-95BD-457B-9BC5-DDE0AD8EF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562350"/>
            <a:ext cx="11811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60646F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0646F"/>
                </a:solidFill>
                <a:latin typeface="Arial"/>
                <a:ea typeface="Arial"/>
                <a:cs typeface="Arial"/>
              </a:rPr>
              <a:t>Create pairing</a:t>
            </a:r>
          </a:p>
          <a:p xmlns:a="http://schemas.openxmlformats.org/drawingml/2006/main">
            <a:pPr algn="ctr">
              <a:defRPr sz="1125" b="0" i="0">
                <a:solidFill>
                  <a:srgbClr val="60646F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0646F"/>
                </a:solidFill>
                <a:latin typeface="Arial"/>
                <a:ea typeface="Arial"/>
                <a:cs typeface="Arial"/>
              </a:rPr>
              <a:t>contract</a:t>
            </a:r>
          </a:p>
        </p:txBody>
      </p:sp>
      <p:sp>
        <p:nvSpPr>
          <p:cNvPr id="24" name="pair-step-3">
            <a:extLst xmlns:a="http://schemas.openxmlformats.org/drawingml/2006/main">
              <a:ext uri="{FF2B5EF4-FFF2-40B4-BE49-F238E27FC236}">
                <a16:creationId xmlns:a16="http://schemas.microsoft.com/office/drawing/2014/main" id="{4964DEC1-3791-429C-99C6-87D4CCB8D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333625"/>
            <a:ext cx="1485900" cy="215265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C9CCD2"/>
            </a:solidFill>
            <a:prstDash val="solid"/>
          </a:ln>
        </p:spPr>
      </p:sp>
      <p:sp>
        <p:nvSpPr>
          <p:cNvPr id="25" name="pair-step-num-3-circle">
            <a:extLst xmlns:a="http://schemas.openxmlformats.org/drawingml/2006/main">
              <a:ext uri="{FF2B5EF4-FFF2-40B4-BE49-F238E27FC236}">
                <a16:creationId xmlns:a16="http://schemas.microsoft.com/office/drawing/2014/main" id="{82FAD6AC-E096-4EA2-96A5-84F2EAEF8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764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47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pair-step-num-3-text">
            <a:extLst xmlns:a="http://schemas.openxmlformats.org/drawingml/2006/main">
              <a:ext uri="{FF2B5EF4-FFF2-40B4-BE49-F238E27FC236}">
                <a16:creationId xmlns:a16="http://schemas.microsoft.com/office/drawing/2014/main" id="{53BFEA82-927E-48CF-89CE-2321191F0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85975"/>
            <a:ext cx="419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F5BC9DA-3585-4074-83DE-661D513DF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724150"/>
            <a:ext cx="11811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11217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11217"/>
                </a:solidFill>
                <a:latin typeface="Arial"/>
                <a:ea typeface="Arial"/>
                <a:cs typeface="Arial"/>
              </a:rPr>
              <a:t>Submit entry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DB67616-AAFA-47AF-A4C1-716D17C83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562350"/>
            <a:ext cx="11811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60646F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0646F"/>
                </a:solidFill>
                <a:latin typeface="Arial"/>
                <a:ea typeface="Arial"/>
                <a:cs typeface="Arial"/>
              </a:rPr>
              <a:t>Move to</a:t>
            </a:r>
          </a:p>
          <a:p xmlns:a="http://schemas.openxmlformats.org/drawingml/2006/main">
            <a:pPr algn="ctr">
              <a:defRPr sz="1125" b="0" i="0">
                <a:solidFill>
                  <a:srgbClr val="60646F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0646F"/>
                </a:solidFill>
                <a:latin typeface="Arial"/>
                <a:ea typeface="Arial"/>
                <a:cs typeface="Arial"/>
              </a:rPr>
              <a:t>PENDING_</a:t>
            </a:r>
          </a:p>
          <a:p xmlns:a="http://schemas.openxmlformats.org/drawingml/2006/main">
            <a:pPr algn="ctr">
              <a:defRPr sz="1125" b="0" i="0">
                <a:solidFill>
                  <a:srgbClr val="60646F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0646F"/>
                </a:solidFill>
                <a:latin typeface="Arial"/>
                <a:ea typeface="Arial"/>
                <a:cs typeface="Arial"/>
              </a:rPr>
              <a:t>ADMIN</a:t>
            </a:r>
          </a:p>
        </p:txBody>
      </p:sp>
      <p:sp>
        <p:nvSpPr>
          <p:cNvPr id="29" name="pair-step-4">
            <a:extLst xmlns:a="http://schemas.openxmlformats.org/drawingml/2006/main">
              <a:ext uri="{FF2B5EF4-FFF2-40B4-BE49-F238E27FC236}">
                <a16:creationId xmlns:a16="http://schemas.microsoft.com/office/drawing/2014/main" id="{18939737-D274-427C-B541-BDE274667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333625"/>
            <a:ext cx="1485900" cy="215265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C9CCD2"/>
            </a:solidFill>
            <a:prstDash val="solid"/>
          </a:ln>
        </p:spPr>
      </p:sp>
      <p:sp>
        <p:nvSpPr>
          <p:cNvPr id="30" name="pair-step-num-4-circle">
            <a:extLst xmlns:a="http://schemas.openxmlformats.org/drawingml/2006/main">
              <a:ext uri="{FF2B5EF4-FFF2-40B4-BE49-F238E27FC236}">
                <a16:creationId xmlns:a16="http://schemas.microsoft.com/office/drawing/2014/main" id="{DE7091D2-B6A7-48E1-8534-F85EB7357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0764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47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pair-step-num-4-text">
            <a:extLst xmlns:a="http://schemas.openxmlformats.org/drawingml/2006/main">
              <a:ext uri="{FF2B5EF4-FFF2-40B4-BE49-F238E27FC236}">
                <a16:creationId xmlns:a16="http://schemas.microsoft.com/office/drawing/2014/main" id="{F0DE7251-0D07-47E2-9827-CA2FE2FC1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085975"/>
            <a:ext cx="419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01DD3E9-456C-49CE-9C80-EA9F3FA02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724150"/>
            <a:ext cx="11811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11217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11217"/>
                </a:solidFill>
                <a:latin typeface="Arial"/>
                <a:ea typeface="Arial"/>
                <a:cs typeface="Arial"/>
              </a:rPr>
              <a:t>Admin approves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9A877F1-99DE-4560-951A-A2BC7C997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562350"/>
            <a:ext cx="11811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60646F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0646F"/>
                </a:solidFill>
                <a:latin typeface="Arial"/>
                <a:ea typeface="Arial"/>
                <a:cs typeface="Arial"/>
              </a:rPr>
              <a:t>Eligible for</a:t>
            </a:r>
          </a:p>
          <a:p xmlns:a="http://schemas.openxmlformats.org/drawingml/2006/main">
            <a:pPr algn="ctr">
              <a:defRPr sz="1125" b="0" i="0">
                <a:solidFill>
                  <a:srgbClr val="60646F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0646F"/>
                </a:solidFill>
                <a:latin typeface="Arial"/>
                <a:ea typeface="Arial"/>
                <a:cs typeface="Arial"/>
              </a:rPr>
              <a:t>READY_FOR_</a:t>
            </a:r>
          </a:p>
          <a:p xmlns:a="http://schemas.openxmlformats.org/drawingml/2006/main">
            <a:pPr algn="ctr">
              <a:defRPr sz="1125" b="0" i="0">
                <a:solidFill>
                  <a:srgbClr val="60646F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0646F"/>
                </a:solidFill>
                <a:latin typeface="Arial"/>
                <a:ea typeface="Arial"/>
                <a:cs typeface="Arial"/>
              </a:rPr>
              <a:t>CHECK</a:t>
            </a:r>
          </a:p>
        </p:txBody>
      </p:sp>
      <p:sp>
        <p:nvSpPr>
          <p:cNvPr id="34" name="pair-step-5">
            <a:extLst xmlns:a="http://schemas.openxmlformats.org/drawingml/2006/main">
              <a:ext uri="{FF2B5EF4-FFF2-40B4-BE49-F238E27FC236}">
                <a16:creationId xmlns:a16="http://schemas.microsoft.com/office/drawing/2014/main" id="{4683BC8A-7804-4E1F-A9FE-3EC83569E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333625"/>
            <a:ext cx="1485900" cy="215265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E6F5EE"/>
          </a:solidFill>
          <a:ln xmlns:a="http://schemas.openxmlformats.org/drawingml/2006/main" w="9525">
            <a:solidFill>
              <a:srgbClr val="C9CCD2"/>
            </a:solidFill>
            <a:prstDash val="solid"/>
          </a:ln>
        </p:spPr>
      </p:sp>
      <p:sp>
        <p:nvSpPr>
          <p:cNvPr id="35" name="pair-step-num-5-circle">
            <a:extLst xmlns:a="http://schemas.openxmlformats.org/drawingml/2006/main">
              <a:ext uri="{FF2B5EF4-FFF2-40B4-BE49-F238E27FC236}">
                <a16:creationId xmlns:a16="http://schemas.microsoft.com/office/drawing/2014/main" id="{D2002152-E12F-4248-8758-ACE95E11C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0764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9D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pair-step-num-5-text">
            <a:extLst xmlns:a="http://schemas.openxmlformats.org/drawingml/2006/main">
              <a:ext uri="{FF2B5EF4-FFF2-40B4-BE49-F238E27FC236}">
                <a16:creationId xmlns:a16="http://schemas.microsoft.com/office/drawing/2014/main" id="{0FDE16CE-87E2-4A69-8525-7BC86BB29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085975"/>
            <a:ext cx="419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1ADA562-E4D1-46B9-A9F3-186233D43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724150"/>
            <a:ext cx="11811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11217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11217"/>
                </a:solidFill>
                <a:latin typeface="Arial"/>
                <a:ea typeface="Arial"/>
                <a:cs typeface="Arial"/>
              </a:rPr>
              <a:t>Referee checks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37073DB-EB73-4E13-9660-E816BAB28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562350"/>
            <a:ext cx="11811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60646F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0646F"/>
                </a:solidFill>
                <a:latin typeface="Arial"/>
                <a:ea typeface="Arial"/>
                <a:cs typeface="Arial"/>
              </a:rPr>
              <a:t>FIT →</a:t>
            </a:r>
          </a:p>
          <a:p xmlns:a="http://schemas.openxmlformats.org/drawingml/2006/main">
            <a:pPr algn="ctr">
              <a:defRPr sz="1125" b="0" i="0">
                <a:solidFill>
                  <a:srgbClr val="60646F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0646F"/>
                </a:solidFill>
                <a:latin typeface="Arial"/>
                <a:ea typeface="Arial"/>
                <a:cs typeface="Arial"/>
              </a:rPr>
              <a:t>CLEARED_TO_</a:t>
            </a:r>
          </a:p>
          <a:p xmlns:a="http://schemas.openxmlformats.org/drawingml/2006/main">
            <a:pPr algn="ctr">
              <a:defRPr sz="1125" b="0" i="0">
                <a:solidFill>
                  <a:srgbClr val="60646F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0646F"/>
                </a:solidFill>
                <a:latin typeface="Arial"/>
                <a:ea typeface="Arial"/>
                <a:cs typeface="Arial"/>
              </a:rPr>
              <a:t>RACE</a:t>
            </a:r>
          </a:p>
        </p:txBody>
      </p:sp>
      <p:sp>
        <p:nvSpPr>
          <p:cNvPr id="39" name="pair-rule-callout">
            <a:extLst xmlns:a="http://schemas.openxmlformats.org/drawingml/2006/main">
              <a:ext uri="{FF2B5EF4-FFF2-40B4-BE49-F238E27FC236}">
                <a16:creationId xmlns:a16="http://schemas.microsoft.com/office/drawing/2014/main" id="{10159C55-E00F-4D62-B5AE-FD256E8BF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953000"/>
            <a:ext cx="74295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CE9E7"/>
          </a:solidFill>
          <a:ln xmlns:a="http://schemas.openxmlformats.org/drawingml/2006/main" w="9525">
            <a:solidFill>
              <a:srgbClr val="C9CCD2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17AA7E7-0ABE-425E-830D-15D215BE2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153025"/>
            <a:ext cx="6819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4886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B93229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B93229"/>
                </a:solidFill>
                <a:latin typeface="Arial"/>
                <a:ea typeface="Arial"/>
                <a:cs typeface="Arial"/>
              </a:rPr>
              <a:t>Core rule: one horse ↔ one jockey in an active pairing; registration is blocked until the pair exists.</a:t>
            </a:r>
          </a:p>
        </p:txBody>
      </p:sp>
      <p:sp>
        <p:nvSpPr>
          <p:cNvPr id="41" name="footer-label-6">
            <a:extLst xmlns:a="http://schemas.openxmlformats.org/drawingml/2006/main">
              <a:ext uri="{FF2B5EF4-FFF2-40B4-BE49-F238E27FC236}">
                <a16:creationId xmlns:a16="http://schemas.microsoft.com/office/drawing/2014/main" id="{10AC3769-180E-47EA-8590-1E49E08D3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198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0646F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60646F"/>
                </a:solidFill>
                <a:latin typeface="Arial"/>
                <a:ea typeface="Arial"/>
                <a:cs typeface="Arial"/>
              </a:rPr>
              <a:t>EQUIX · SWP391</a:t>
            </a:r>
          </a:p>
        </p:txBody>
      </p:sp>
      <p:sp>
        <p:nvSpPr>
          <p:cNvPr id="42" name="footer-page-6">
            <a:extLst xmlns:a="http://schemas.openxmlformats.org/drawingml/2006/main">
              <a:ext uri="{FF2B5EF4-FFF2-40B4-BE49-F238E27FC236}">
                <a16:creationId xmlns:a16="http://schemas.microsoft.com/office/drawing/2014/main" id="{EED9EF95-9AF8-4D40-848D-0F7476163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817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60646F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0646F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21597887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565AC08-5868-4E4B-B8E7-4E3B744CD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11217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111217"/>
                </a:solidFill>
                <a:latin typeface="Arial"/>
                <a:ea typeface="Arial"/>
                <a:cs typeface="Arial"/>
              </a:rPr>
              <a:t>The race lifecycle is the backbone of the platform</a:t>
            </a:r>
          </a:p>
        </p:txBody>
      </p:sp>
      <p:sp>
        <p:nvSpPr>
          <p:cNvPr id="2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64F1EDCB-A595-4E4F-806D-923AE2C09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962025"/>
            <a:ext cx="704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47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55A44340-89AD-4A04-A94A-C03933151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895350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0646F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0646F"/>
                </a:solidFill>
                <a:latin typeface="Arial"/>
                <a:ea typeface="Arial"/>
                <a:cs typeface="Arial"/>
              </a:rPr>
              <a:t>Each state enables valid actions and locks operations that are no longer allowed.</a:t>
            </a:r>
          </a:p>
        </p:txBody>
      </p:sp>
      <p:cxnSp>
        <p:nvCxnSpPr>
          <p:cNvPr id="42" name="status-line-0-0"/>
          <p:cNvCxnSpPr/>
          <p:nvPr/>
        </p:nvCxnSpPr>
        <p:spPr>
          <a:xfrm xmlns:a="http://schemas.openxmlformats.org/drawingml/2006/main">
            <a:off x="2628900" y="2505075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C9CCD2"/>
            </a:solidFill>
            <a:prstDash val="solid"/>
          </a:ln>
        </p:spPr>
      </p:cxnSp>
      <p:cxnSp>
        <p:nvCxnSpPr>
          <p:cNvPr id="43" name="status-line-0-1"/>
          <p:cNvCxnSpPr/>
          <p:nvPr/>
        </p:nvCxnSpPr>
        <p:spPr>
          <a:xfrm xmlns:a="http://schemas.openxmlformats.org/drawingml/2006/main">
            <a:off x="5524500" y="2505075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C9CCD2"/>
            </a:solidFill>
            <a:prstDash val="solid"/>
          </a:ln>
        </p:spPr>
      </p:cxnSp>
      <p:cxnSp>
        <p:nvCxnSpPr>
          <p:cNvPr id="44" name="status-line-0-2"/>
          <p:cNvCxnSpPr/>
          <p:nvPr/>
        </p:nvCxnSpPr>
        <p:spPr>
          <a:xfrm xmlns:a="http://schemas.openxmlformats.org/drawingml/2006/main">
            <a:off x="8420100" y="2505075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C9CCD2"/>
            </a:solidFill>
            <a:prstDash val="solid"/>
          </a:ln>
        </p:spPr>
      </p:cxnSp>
      <p:cxnSp>
        <p:nvCxnSpPr>
          <p:cNvPr id="45" name="status-line-1-0"/>
          <p:cNvCxnSpPr/>
          <p:nvPr/>
        </p:nvCxnSpPr>
        <p:spPr>
          <a:xfrm xmlns:a="http://schemas.openxmlformats.org/drawingml/2006/main">
            <a:off x="2628900" y="4486275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C9CCD2"/>
            </a:solidFill>
            <a:prstDash val="solid"/>
          </a:ln>
        </p:spPr>
      </p:cxnSp>
      <p:cxnSp>
        <p:nvCxnSpPr>
          <p:cNvPr id="46" name="status-line-1-1"/>
          <p:cNvCxnSpPr/>
          <p:nvPr/>
        </p:nvCxnSpPr>
        <p:spPr>
          <a:xfrm xmlns:a="http://schemas.openxmlformats.org/drawingml/2006/main">
            <a:off x="5524500" y="4486275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C9CCD2"/>
            </a:solidFill>
            <a:prstDash val="solid"/>
          </a:ln>
        </p:spPr>
      </p:cxnSp>
      <p:cxnSp>
        <p:nvCxnSpPr>
          <p:cNvPr id="47" name="status-line-1-2"/>
          <p:cNvCxnSpPr/>
          <p:nvPr/>
        </p:nvCxnSpPr>
        <p:spPr>
          <a:xfrm xmlns:a="http://schemas.openxmlformats.org/drawingml/2006/main">
            <a:off x="8420100" y="4486275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C9CCD2"/>
            </a:solidFill>
            <a:prstDash val="solid"/>
          </a:ln>
        </p:spPr>
      </p:cxnSp>
      <p:sp>
        <p:nvSpPr>
          <p:cNvPr id="10" name="status-0">
            <a:extLst xmlns:a="http://schemas.openxmlformats.org/drawingml/2006/main">
              <a:ext uri="{FF2B5EF4-FFF2-40B4-BE49-F238E27FC236}">
                <a16:creationId xmlns:a16="http://schemas.microsoft.com/office/drawing/2014/main" id="{C2C32FAF-9B80-4E96-8EE6-AFCF036B3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05000"/>
            <a:ext cx="21336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C9CCD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C98230-6E8B-45F4-B9D2-744AA3FB6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1790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60646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0646F"/>
                </a:solidFill>
                <a:latin typeface="Arial"/>
                <a:ea typeface="Arial"/>
                <a:cs typeface="Arial"/>
              </a:rPr>
              <a:t>DRAFT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AC9912-DA3B-4615-BA02-587B765DA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95550"/>
            <a:ext cx="1790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111217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11217"/>
                </a:solidFill>
                <a:latin typeface="Arial"/>
                <a:ea typeface="Arial"/>
                <a:cs typeface="Arial"/>
              </a:rPr>
              <a:t>Draft</a:t>
            </a:r>
          </a:p>
        </p:txBody>
      </p:sp>
      <p:sp>
        <p:nvSpPr>
          <p:cNvPr id="13" name="status-1">
            <a:extLst xmlns:a="http://schemas.openxmlformats.org/drawingml/2006/main">
              <a:ext uri="{FF2B5EF4-FFF2-40B4-BE49-F238E27FC236}">
                <a16:creationId xmlns:a16="http://schemas.microsoft.com/office/drawing/2014/main" id="{9C13D298-869C-4D5A-A57A-35B4FB1AA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905000"/>
            <a:ext cx="21336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E8F2FF"/>
          </a:solidFill>
          <a:ln xmlns:a="http://schemas.openxmlformats.org/drawingml/2006/main" w="9525">
            <a:solidFill>
              <a:srgbClr val="C9CCD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24923B-3303-475D-A540-CF0DA4016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095500"/>
            <a:ext cx="1790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60646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0646F"/>
                </a:solidFill>
                <a:latin typeface="Arial"/>
                <a:ea typeface="Arial"/>
                <a:cs typeface="Arial"/>
              </a:rPr>
              <a:t>REGISTRATION_OPEN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8AD5B9-350A-4FFB-A9A1-CF4D9396D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495550"/>
            <a:ext cx="1790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111217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11217"/>
                </a:solidFill>
                <a:latin typeface="Arial"/>
                <a:ea typeface="Arial"/>
                <a:cs typeface="Arial"/>
              </a:rPr>
              <a:t>Registration open</a:t>
            </a:r>
          </a:p>
        </p:txBody>
      </p:sp>
      <p:sp>
        <p:nvSpPr>
          <p:cNvPr id="16" name="status-2">
            <a:extLst xmlns:a="http://schemas.openxmlformats.org/drawingml/2006/main">
              <a:ext uri="{FF2B5EF4-FFF2-40B4-BE49-F238E27FC236}">
                <a16:creationId xmlns:a16="http://schemas.microsoft.com/office/drawing/2014/main" id="{EB1F8BD5-B044-4DD0-840B-33EE90CDF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05000"/>
            <a:ext cx="21336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4DA"/>
          </a:solidFill>
          <a:ln xmlns:a="http://schemas.openxmlformats.org/drawingml/2006/main" w="9525">
            <a:solidFill>
              <a:srgbClr val="C9CCD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C104F7-017A-4D70-B8B5-BA7C286CC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095500"/>
            <a:ext cx="1790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60646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0646F"/>
                </a:solidFill>
                <a:latin typeface="Arial"/>
                <a:ea typeface="Arial"/>
                <a:cs typeface="Arial"/>
              </a:rPr>
              <a:t>REGISTRATION_CLOSED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1BEC11-8E9A-4729-A7AF-197DD9A4C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495550"/>
            <a:ext cx="1790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6317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111217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11217"/>
                </a:solidFill>
                <a:latin typeface="Arial"/>
                <a:ea typeface="Arial"/>
                <a:cs typeface="Arial"/>
              </a:rPr>
              <a:t>Registration closed</a:t>
            </a:r>
          </a:p>
        </p:txBody>
      </p:sp>
      <p:sp>
        <p:nvSpPr>
          <p:cNvPr id="19" name="status-3">
            <a:extLst xmlns:a="http://schemas.openxmlformats.org/drawingml/2006/main">
              <a:ext uri="{FF2B5EF4-FFF2-40B4-BE49-F238E27FC236}">
                <a16:creationId xmlns:a16="http://schemas.microsoft.com/office/drawing/2014/main" id="{D2B3D3DE-28F4-4EF6-B936-1F633CD3E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905000"/>
            <a:ext cx="21336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4DA"/>
          </a:solidFill>
          <a:ln xmlns:a="http://schemas.openxmlformats.org/drawingml/2006/main" w="9525">
            <a:solidFill>
              <a:srgbClr val="C9CCD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F41E49-568B-4871-81F0-38CAA30F5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095500"/>
            <a:ext cx="1790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60646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0646F"/>
                </a:solidFill>
                <a:latin typeface="Arial"/>
                <a:ea typeface="Arial"/>
                <a:cs typeface="Arial"/>
              </a:rPr>
              <a:t>STANDBY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84B52E7-3932-4C8D-B0F9-99CC19452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495550"/>
            <a:ext cx="1790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111217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11217"/>
                </a:solidFill>
                <a:latin typeface="Arial"/>
                <a:ea typeface="Arial"/>
                <a:cs typeface="Arial"/>
              </a:rPr>
              <a:t>Awaiting start</a:t>
            </a:r>
          </a:p>
        </p:txBody>
      </p:sp>
      <p:sp>
        <p:nvSpPr>
          <p:cNvPr id="22" name="status-4">
            <a:extLst xmlns:a="http://schemas.openxmlformats.org/drawingml/2006/main">
              <a:ext uri="{FF2B5EF4-FFF2-40B4-BE49-F238E27FC236}">
                <a16:creationId xmlns:a16="http://schemas.microsoft.com/office/drawing/2014/main" id="{FE105146-1337-4792-B1E0-41B54A196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886200"/>
            <a:ext cx="21336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CE9E7"/>
          </a:solidFill>
          <a:ln xmlns:a="http://schemas.openxmlformats.org/drawingml/2006/main" w="9525">
            <a:solidFill>
              <a:srgbClr val="C9CCD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D49A874-ADF4-45B2-88E2-2F4BB508B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76700"/>
            <a:ext cx="1790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E4473A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E4473A"/>
                </a:solidFill>
                <a:latin typeface="Arial"/>
                <a:ea typeface="Arial"/>
                <a:cs typeface="Arial"/>
              </a:rPr>
              <a:t>IN_PROGRESS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3053AC5-C0E7-4FDF-813D-BEAC585AF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76750"/>
            <a:ext cx="1790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111217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11217"/>
                </a:solidFill>
                <a:latin typeface="Arial"/>
                <a:ea typeface="Arial"/>
                <a:cs typeface="Arial"/>
              </a:rPr>
              <a:t>Live</a:t>
            </a:r>
          </a:p>
        </p:txBody>
      </p:sp>
      <p:sp>
        <p:nvSpPr>
          <p:cNvPr id="25" name="status-5">
            <a:extLst xmlns:a="http://schemas.openxmlformats.org/drawingml/2006/main">
              <a:ext uri="{FF2B5EF4-FFF2-40B4-BE49-F238E27FC236}">
                <a16:creationId xmlns:a16="http://schemas.microsoft.com/office/drawing/2014/main" id="{93163B6C-0F6F-40F8-B1FC-524284CF7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886200"/>
            <a:ext cx="21336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C9CCD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8FC3D56-F831-429A-8F86-DB9A716B7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076700"/>
            <a:ext cx="1790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60646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0646F"/>
                </a:solidFill>
                <a:latin typeface="Arial"/>
                <a:ea typeface="Arial"/>
                <a:cs typeface="Arial"/>
              </a:rPr>
              <a:t>COMPLETED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5580F41-BF7C-4E09-BB62-85A6A18E7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476750"/>
            <a:ext cx="1790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111217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11217"/>
                </a:solidFill>
                <a:latin typeface="Arial"/>
                <a:ea typeface="Arial"/>
                <a:cs typeface="Arial"/>
              </a:rPr>
              <a:t>Provisional result</a:t>
            </a:r>
          </a:p>
        </p:txBody>
      </p:sp>
      <p:sp>
        <p:nvSpPr>
          <p:cNvPr id="28" name="status-6">
            <a:extLst xmlns:a="http://schemas.openxmlformats.org/drawingml/2006/main">
              <a:ext uri="{FF2B5EF4-FFF2-40B4-BE49-F238E27FC236}">
                <a16:creationId xmlns:a16="http://schemas.microsoft.com/office/drawing/2014/main" id="{1B9972C4-A5D6-4A0D-A959-A9B7BD532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86200"/>
            <a:ext cx="21336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E6F5EE"/>
          </a:solidFill>
          <a:ln xmlns:a="http://schemas.openxmlformats.org/drawingml/2006/main" w="9525">
            <a:solidFill>
              <a:srgbClr val="C9CCD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FEADE4E-0558-4EA9-8229-41358E7AE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076700"/>
            <a:ext cx="1790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1E9D62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1E9D62"/>
                </a:solidFill>
                <a:latin typeface="Arial"/>
                <a:ea typeface="Arial"/>
                <a:cs typeface="Arial"/>
              </a:rPr>
              <a:t>REPORT_READY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1F3AC83-85C5-461B-B475-81C5F6AAF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476750"/>
            <a:ext cx="1790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111217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11217"/>
                </a:solidFill>
                <a:latin typeface="Arial"/>
                <a:ea typeface="Arial"/>
                <a:cs typeface="Arial"/>
              </a:rPr>
              <a:t>Report ready</a:t>
            </a:r>
          </a:p>
        </p:txBody>
      </p:sp>
      <p:sp>
        <p:nvSpPr>
          <p:cNvPr id="31" name="status-7">
            <a:extLst xmlns:a="http://schemas.openxmlformats.org/drawingml/2006/main">
              <a:ext uri="{FF2B5EF4-FFF2-40B4-BE49-F238E27FC236}">
                <a16:creationId xmlns:a16="http://schemas.microsoft.com/office/drawing/2014/main" id="{278D77C1-17C6-4FB2-80CB-26E043FC0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886200"/>
            <a:ext cx="21336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E6F5EE"/>
          </a:solidFill>
          <a:ln xmlns:a="http://schemas.openxmlformats.org/drawingml/2006/main" w="9525">
            <a:solidFill>
              <a:srgbClr val="C9CCD2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876C952-CF39-4439-A86C-8F43BA048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076700"/>
            <a:ext cx="1790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1E9D62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1E9D62"/>
                </a:solidFill>
                <a:latin typeface="Arial"/>
                <a:ea typeface="Arial"/>
                <a:cs typeface="Arial"/>
              </a:rPr>
              <a:t>OFFICIAL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112E0DB-E7D5-4CBB-924C-1EC034826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476750"/>
            <a:ext cx="1790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111217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11217"/>
                </a:solidFill>
                <a:latin typeface="Arial"/>
                <a:ea typeface="Arial"/>
                <a:cs typeface="Arial"/>
              </a:rPr>
              <a:t>Official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F311A38-577D-46DE-8694-DA4EFCE3F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5785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Administrator: Draft / Open / Close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6A7FB49-A534-4F74-9BFB-70CF54C31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5657850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E4473A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E4473A"/>
                </a:solidFill>
                <a:latin typeface="Arial"/>
                <a:ea typeface="Arial"/>
                <a:cs typeface="Arial"/>
              </a:rPr>
              <a:t>Referee: Standby → Complete → Submit report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6C241FB-DF3C-4E01-831B-FAA885A7F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65785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1E9D62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1E9D62"/>
                </a:solidFill>
                <a:latin typeface="Arial"/>
                <a:ea typeface="Arial"/>
                <a:cs typeface="Arial"/>
              </a:rPr>
              <a:t>Administrator: Report → Official</a:t>
            </a:r>
          </a:p>
        </p:txBody>
      </p:sp>
      <p:sp>
        <p:nvSpPr>
          <p:cNvPr id="37" name="footer-label-7">
            <a:extLst xmlns:a="http://schemas.openxmlformats.org/drawingml/2006/main">
              <a:ext uri="{FF2B5EF4-FFF2-40B4-BE49-F238E27FC236}">
                <a16:creationId xmlns:a16="http://schemas.microsoft.com/office/drawing/2014/main" id="{9BE131B3-441F-48FB-8A6C-81E29506C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198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0646F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60646F"/>
                </a:solidFill>
                <a:latin typeface="Arial"/>
                <a:ea typeface="Arial"/>
                <a:cs typeface="Arial"/>
              </a:rPr>
              <a:t>EQUIX · SWP391</a:t>
            </a:r>
          </a:p>
        </p:txBody>
      </p:sp>
      <p:sp>
        <p:nvSpPr>
          <p:cNvPr id="38" name="footer-page-7">
            <a:extLst xmlns:a="http://schemas.openxmlformats.org/drawingml/2006/main">
              <a:ext uri="{FF2B5EF4-FFF2-40B4-BE49-F238E27FC236}">
                <a16:creationId xmlns:a16="http://schemas.microsoft.com/office/drawing/2014/main" id="{DA69EF65-67AF-4EB5-BBD7-131FC25E4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817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60646F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0646F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7254810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8C877AF-BA04-4176-A23C-D990F1910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11217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111217"/>
                </a:solidFill>
                <a:latin typeface="Arial"/>
                <a:ea typeface="Arial"/>
                <a:cs typeface="Arial"/>
              </a:rPr>
              <a:t>V4 rules are enforced on the server, not only in the UI</a:t>
            </a:r>
          </a:p>
        </p:txBody>
      </p:sp>
      <p:sp>
        <p:nvSpPr>
          <p:cNvPr id="2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6020B375-6CD9-43D7-AD39-23915DF07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962025"/>
            <a:ext cx="704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47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A51BF4-3447-46CA-84AF-0ACD977FF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19250"/>
            <a:ext cx="5429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11217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111217"/>
                </a:solidFill>
                <a:latin typeface="Arial"/>
                <a:ea typeface="Arial"/>
                <a:cs typeface="Arial"/>
              </a:rPr>
              <a:t>The business document defines 25 hard rules. These five rules preserve the consistency of the demo workflow and address key review questions.</a:t>
            </a:r>
          </a:p>
        </p:txBody>
      </p:sp>
      <p:sp>
        <p:nvSpPr>
          <p:cNvPr id="4" name="rules-principle">
            <a:extLst xmlns:a="http://schemas.openxmlformats.org/drawingml/2006/main">
              <a:ext uri="{FF2B5EF4-FFF2-40B4-BE49-F238E27FC236}">
                <a16:creationId xmlns:a16="http://schemas.microsoft.com/office/drawing/2014/main" id="{CD027CDB-96BB-4884-B0D1-6F5EEAB4D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33750"/>
            <a:ext cx="5429250" cy="2152650"/>
          </a:xfrm>
          <a:prstGeom xmlns:a="http://schemas.openxmlformats.org/drawingml/2006/main" prst="roundRect">
            <a:avLst>
              <a:gd name="adj" fmla="val 3540"/>
            </a:avLst>
          </a:prstGeom>
          <a:solidFill xmlns:a="http://schemas.openxmlformats.org/drawingml/2006/main">
            <a:srgbClr val="101117"/>
          </a:solidFill>
          <a:ln xmlns:a="http://schemas.openxmlformats.org/drawingml/2006/main" w="9525">
            <a:solidFill>
              <a:srgbClr val="C9CCD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BA5C81-339A-4E78-BBA4-C167A465F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57600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E4473A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E4473A"/>
                </a:solidFill>
                <a:latin typeface="Arial"/>
                <a:ea typeface="Arial"/>
                <a:cs typeface="Arial"/>
              </a:rPr>
              <a:t>Design principle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FD4995-5F06-420F-9A19-F6D60C670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10050"/>
            <a:ext cx="4572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UI guides the user.</a:t>
            </a:r>
          </a:p>
          <a:p xmlns:a="http://schemas.openxmlformats.org/drawingml/2006/main">
            <a:pPr algn="l">
              <a:defRPr sz="15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server decides whether an action is valid.</a:t>
            </a:r>
          </a:p>
          <a:p xmlns:a="http://schemas.openxmlformats.org/drawingml/2006/main">
            <a:pPr algn="l">
              <a:defRPr sz="15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database preserves relationships and transactions.</a:t>
            </a:r>
          </a:p>
        </p:txBody>
      </p:sp>
      <p:sp>
        <p:nvSpPr>
          <p:cNvPr id="7" name="bullet-0-184-circle">
            <a:extLst xmlns:a="http://schemas.openxmlformats.org/drawingml/2006/main">
              <a:ext uri="{FF2B5EF4-FFF2-40B4-BE49-F238E27FC236}">
                <a16:creationId xmlns:a16="http://schemas.microsoft.com/office/drawing/2014/main" id="{B6FE96B6-E27A-4528-8A04-EDDFF4C2F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7811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47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bullet-0-184-text">
            <a:extLst xmlns:a="http://schemas.openxmlformats.org/drawingml/2006/main">
              <a:ext uri="{FF2B5EF4-FFF2-40B4-BE49-F238E27FC236}">
                <a16:creationId xmlns:a16="http://schemas.microsoft.com/office/drawing/2014/main" id="{99FC73C3-52C2-4E0D-AA45-8E31AF939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790700"/>
            <a:ext cx="209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2593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C5AA52-203B-4574-BAD5-915242389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1752600"/>
            <a:ext cx="45148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11217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11217"/>
                </a:solidFill>
                <a:latin typeface="Arial"/>
                <a:ea typeface="Arial"/>
                <a:cs typeface="Arial"/>
              </a:rPr>
              <a:t>Each race requires 6–18 pairs</a:t>
            </a:r>
          </a:p>
        </p:txBody>
      </p:sp>
      <p:sp>
        <p:nvSpPr>
          <p:cNvPr id="10" name="bullet-1-184-circle">
            <a:extLst xmlns:a="http://schemas.openxmlformats.org/drawingml/2006/main">
              <a:ext uri="{FF2B5EF4-FFF2-40B4-BE49-F238E27FC236}">
                <a16:creationId xmlns:a16="http://schemas.microsoft.com/office/drawing/2014/main" id="{B8921835-5C0C-4A3E-A5EE-6A4381CFB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669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47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bullet-1-184-text">
            <a:extLst xmlns:a="http://schemas.openxmlformats.org/drawingml/2006/main">
              <a:ext uri="{FF2B5EF4-FFF2-40B4-BE49-F238E27FC236}">
                <a16:creationId xmlns:a16="http://schemas.microsoft.com/office/drawing/2014/main" id="{CDA61755-4079-4F62-B0FA-E09AF8A9B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76500"/>
            <a:ext cx="209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2593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97A8D0-818E-4A04-9A73-8C43A2890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438400"/>
            <a:ext cx="45148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11217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11217"/>
                </a:solidFill>
                <a:latin typeface="Arial"/>
                <a:ea typeface="Arial"/>
                <a:cs typeface="Arial"/>
              </a:rPr>
              <a:t>Registration closes one week before race time</a:t>
            </a:r>
          </a:p>
        </p:txBody>
      </p:sp>
      <p:sp>
        <p:nvSpPr>
          <p:cNvPr id="13" name="bullet-2-184-circle">
            <a:extLst xmlns:a="http://schemas.openxmlformats.org/drawingml/2006/main">
              <a:ext uri="{FF2B5EF4-FFF2-40B4-BE49-F238E27FC236}">
                <a16:creationId xmlns:a16="http://schemas.microsoft.com/office/drawing/2014/main" id="{B073E5E6-0D0D-45F6-A154-E3C605DF1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527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47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bullet-2-184-text">
            <a:extLst xmlns:a="http://schemas.openxmlformats.org/drawingml/2006/main">
              <a:ext uri="{FF2B5EF4-FFF2-40B4-BE49-F238E27FC236}">
                <a16:creationId xmlns:a16="http://schemas.microsoft.com/office/drawing/2014/main" id="{1DF65A1D-E0F3-4ED1-BCDC-42BC42C07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62300"/>
            <a:ext cx="209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2593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A8F9EE-4538-4710-9189-9C44DA815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124200"/>
            <a:ext cx="45148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11217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11217"/>
                </a:solidFill>
                <a:latin typeface="Arial"/>
                <a:ea typeface="Arial"/>
                <a:cs typeface="Arial"/>
              </a:rPr>
              <a:t>Each spectator gets one prediction per race</a:t>
            </a:r>
          </a:p>
        </p:txBody>
      </p:sp>
      <p:sp>
        <p:nvSpPr>
          <p:cNvPr id="16" name="bullet-3-184-circle">
            <a:extLst xmlns:a="http://schemas.openxmlformats.org/drawingml/2006/main">
              <a:ext uri="{FF2B5EF4-FFF2-40B4-BE49-F238E27FC236}">
                <a16:creationId xmlns:a16="http://schemas.microsoft.com/office/drawing/2014/main" id="{A785C90D-18D7-4D3F-91E4-F63186CA8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8385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47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ullet-3-184-text">
            <a:extLst xmlns:a="http://schemas.openxmlformats.org/drawingml/2006/main">
              <a:ext uri="{FF2B5EF4-FFF2-40B4-BE49-F238E27FC236}">
                <a16:creationId xmlns:a16="http://schemas.microsoft.com/office/drawing/2014/main" id="{B1B38F35-2A84-43AA-9AE9-FD8A4C8D7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848100"/>
            <a:ext cx="209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2593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0D2A3E-4A87-485C-A5C7-794EE47A6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810000"/>
            <a:ext cx="45148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11217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11217"/>
                </a:solidFill>
                <a:latin typeface="Arial"/>
                <a:ea typeface="Arial"/>
                <a:cs typeface="Arial"/>
              </a:rPr>
              <a:t>Only the assigned referee can start a race</a:t>
            </a:r>
          </a:p>
        </p:txBody>
      </p:sp>
      <p:sp>
        <p:nvSpPr>
          <p:cNvPr id="19" name="bullet-4-184-circle">
            <a:extLst xmlns:a="http://schemas.openxmlformats.org/drawingml/2006/main">
              <a:ext uri="{FF2B5EF4-FFF2-40B4-BE49-F238E27FC236}">
                <a16:creationId xmlns:a16="http://schemas.microsoft.com/office/drawing/2014/main" id="{E2AFE251-E02B-4924-B3EF-489F4EB77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5243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47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bullet-4-184-text">
            <a:extLst xmlns:a="http://schemas.openxmlformats.org/drawingml/2006/main">
              <a:ext uri="{FF2B5EF4-FFF2-40B4-BE49-F238E27FC236}">
                <a16:creationId xmlns:a16="http://schemas.microsoft.com/office/drawing/2014/main" id="{788FA426-765A-4A31-855F-92E2D6926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533900"/>
            <a:ext cx="209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2593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5C2B8B0-B369-4738-944C-F108D1D70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495800"/>
            <a:ext cx="45148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11217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11217"/>
                </a:solidFill>
                <a:latin typeface="Arial"/>
                <a:ea typeface="Arial"/>
                <a:cs typeface="Arial"/>
              </a:rPr>
              <a:t>Results require a report + Administrator approval</a:t>
            </a:r>
          </a:p>
        </p:txBody>
      </p:sp>
      <p:sp>
        <p:nvSpPr>
          <p:cNvPr id="22" name="footer-label-8">
            <a:extLst xmlns:a="http://schemas.openxmlformats.org/drawingml/2006/main">
              <a:ext uri="{FF2B5EF4-FFF2-40B4-BE49-F238E27FC236}">
                <a16:creationId xmlns:a16="http://schemas.microsoft.com/office/drawing/2014/main" id="{001FCA73-5622-4E70-8D3D-10A183D29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198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0646F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60646F"/>
                </a:solidFill>
                <a:latin typeface="Arial"/>
                <a:ea typeface="Arial"/>
                <a:cs typeface="Arial"/>
              </a:rPr>
              <a:t>EQUIX · SWP391</a:t>
            </a:r>
          </a:p>
        </p:txBody>
      </p:sp>
      <p:sp>
        <p:nvSpPr>
          <p:cNvPr id="23" name="footer-page-8">
            <a:extLst xmlns:a="http://schemas.openxmlformats.org/drawingml/2006/main">
              <a:ext uri="{FF2B5EF4-FFF2-40B4-BE49-F238E27FC236}">
                <a16:creationId xmlns:a16="http://schemas.microsoft.com/office/drawing/2014/main" id="{D3D3CF72-12EE-4EFA-9451-F2C28346B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817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60646F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0646F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2911603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1DB2893-F9DB-4ABF-8279-E588A0A32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11217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111217"/>
                </a:solidFill>
                <a:latin typeface="Arial"/>
                <a:ea typeface="Arial"/>
                <a:cs typeface="Arial"/>
              </a:rPr>
              <a:t>Predictions engage spectators without real-money betting</a:t>
            </a:r>
          </a:p>
        </p:txBody>
      </p:sp>
      <p:sp>
        <p:nvSpPr>
          <p:cNvPr id="2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C6BF3A90-E2CB-4A9E-BDEC-C1BCE8D9C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962025"/>
            <a:ext cx="704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47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43A3C631-5922-4D66-8083-673705AD9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895350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0646F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0646F"/>
                </a:solidFill>
                <a:latin typeface="Arial"/>
                <a:ea typeface="Arial"/>
                <a:cs typeface="Arial"/>
              </a:rPr>
              <a:t>Spectators use points; rewards are issued only after results become OFFICIAL.</a:t>
            </a:r>
          </a:p>
        </p:txBody>
      </p:sp>
      <p:cxnSp>
        <p:nvCxnSpPr>
          <p:cNvPr id="26" name="guess-timeline"/>
          <p:cNvCxnSpPr/>
          <p:nvPr/>
        </p:nvCxnSpPr>
        <p:spPr>
          <a:xfrm xmlns:a="http://schemas.openxmlformats.org/drawingml/2006/main">
            <a:off x="1809750" y="2914650"/>
            <a:ext cx="8572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C9CCD2"/>
            </a:solidFill>
            <a:prstDash val="solid"/>
          </a:ln>
        </p:spPr>
      </p:cxnSp>
      <p:sp>
        <p:nvSpPr>
          <p:cNvPr id="5" name="guess-0-circle">
            <a:extLst xmlns:a="http://schemas.openxmlformats.org/drawingml/2006/main">
              <a:ext uri="{FF2B5EF4-FFF2-40B4-BE49-F238E27FC236}">
                <a16:creationId xmlns:a16="http://schemas.microsoft.com/office/drawing/2014/main" id="{B6A55482-B359-4607-ABDD-F71128AAF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7051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47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guess-0-text">
            <a:extLst xmlns:a="http://schemas.openxmlformats.org/drawingml/2006/main">
              <a:ext uri="{FF2B5EF4-FFF2-40B4-BE49-F238E27FC236}">
                <a16:creationId xmlns:a16="http://schemas.microsoft.com/office/drawing/2014/main" id="{863BBC4F-7DC4-446B-8BCC-5C34370C4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714625"/>
            <a:ext cx="419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C72177-20C4-4433-B7DE-C8C410C6F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9090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111217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11217"/>
                </a:solidFill>
                <a:latin typeface="Arial"/>
                <a:ea typeface="Arial"/>
                <a:cs typeface="Arial"/>
              </a:rPr>
              <a:t>Predict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B2E951-105A-49F5-A969-11A877C9A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00500"/>
            <a:ext cx="2381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60646F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0646F"/>
                </a:solidFill>
                <a:latin typeface="Arial"/>
                <a:ea typeface="Arial"/>
                <a:cs typeface="Arial"/>
              </a:rPr>
              <a:t>Choose a horse–jockey pair</a:t>
            </a:r>
          </a:p>
          <a:p xmlns:a="http://schemas.openxmlformats.org/drawingml/2006/main">
            <a:pPr algn="ctr">
              <a:defRPr sz="1275" b="0" i="0">
                <a:solidFill>
                  <a:srgbClr val="60646F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0646F"/>
                </a:solidFill>
                <a:latin typeface="Arial"/>
                <a:ea typeface="Arial"/>
                <a:cs typeface="Arial"/>
              </a:rPr>
              <a:t>and place points before STANDBY</a:t>
            </a:r>
          </a:p>
        </p:txBody>
      </p:sp>
      <p:sp>
        <p:nvSpPr>
          <p:cNvPr id="9" name="guess-1-circle">
            <a:extLst xmlns:a="http://schemas.openxmlformats.org/drawingml/2006/main">
              <a:ext uri="{FF2B5EF4-FFF2-40B4-BE49-F238E27FC236}">
                <a16:creationId xmlns:a16="http://schemas.microsoft.com/office/drawing/2014/main" id="{84CD2277-2115-4668-9917-9E7BC8B14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7051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47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guess-1-text">
            <a:extLst xmlns:a="http://schemas.openxmlformats.org/drawingml/2006/main">
              <a:ext uri="{FF2B5EF4-FFF2-40B4-BE49-F238E27FC236}">
                <a16:creationId xmlns:a16="http://schemas.microsoft.com/office/drawing/2014/main" id="{BA030F0A-2FAC-45BD-B4AA-0E6849836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714625"/>
            <a:ext cx="419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3F5F65-8941-4802-9376-562123134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39090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111217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11217"/>
                </a:solidFill>
                <a:latin typeface="Arial"/>
                <a:ea typeface="Arial"/>
                <a:cs typeface="Arial"/>
              </a:rPr>
              <a:t>Lock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EFC082-A7AA-4971-8E50-0F8E5B0C8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000500"/>
            <a:ext cx="2381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60646F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0646F"/>
                </a:solidFill>
                <a:latin typeface="Arial"/>
                <a:ea typeface="Arial"/>
                <a:cs typeface="Arial"/>
              </a:rPr>
              <a:t>Race reaches STANDBY</a:t>
            </a:r>
          </a:p>
          <a:p xmlns:a="http://schemas.openxmlformats.org/drawingml/2006/main">
            <a:pPr algn="ctr">
              <a:defRPr sz="1275" b="0" i="0">
                <a:solidFill>
                  <a:srgbClr val="60646F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0646F"/>
                </a:solidFill>
                <a:latin typeface="Arial"/>
                <a:ea typeface="Arial"/>
                <a:cs typeface="Arial"/>
              </a:rPr>
              <a:t>→ prediction cannot be edited</a:t>
            </a:r>
          </a:p>
        </p:txBody>
      </p:sp>
      <p:sp>
        <p:nvSpPr>
          <p:cNvPr id="13" name="guess-2-circle">
            <a:extLst xmlns:a="http://schemas.openxmlformats.org/drawingml/2006/main">
              <a:ext uri="{FF2B5EF4-FFF2-40B4-BE49-F238E27FC236}">
                <a16:creationId xmlns:a16="http://schemas.microsoft.com/office/drawing/2014/main" id="{AFD315EF-989D-4BA2-922B-48C3F9DD4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7051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9D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guess-2-text">
            <a:extLst xmlns:a="http://schemas.openxmlformats.org/drawingml/2006/main">
              <a:ext uri="{FF2B5EF4-FFF2-40B4-BE49-F238E27FC236}">
                <a16:creationId xmlns:a16="http://schemas.microsoft.com/office/drawing/2014/main" id="{67FB043B-AFA8-49F7-BF79-2241130B0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714625"/>
            <a:ext cx="419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AFD2C1-578A-4120-AFFF-111D7C412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39090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111217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11217"/>
                </a:solidFill>
                <a:latin typeface="Arial"/>
                <a:ea typeface="Arial"/>
                <a:cs typeface="Arial"/>
              </a:rPr>
              <a:t>Reward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51BB77-E30B-4039-8BA8-5A303653C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000500"/>
            <a:ext cx="2381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60646F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0646F"/>
                </a:solidFill>
                <a:latin typeface="Arial"/>
                <a:ea typeface="Arial"/>
                <a:cs typeface="Arial"/>
              </a:rPr>
              <a:t>Administrator publishes OFFICIAL</a:t>
            </a:r>
          </a:p>
          <a:p xmlns:a="http://schemas.openxmlformats.org/drawingml/2006/main">
            <a:pPr algn="ctr">
              <a:defRPr sz="1275" b="0" i="0">
                <a:solidFill>
                  <a:srgbClr val="60646F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0646F"/>
                </a:solidFill>
                <a:latin typeface="Arial"/>
                <a:ea typeface="Arial"/>
                <a:cs typeface="Arial"/>
              </a:rPr>
              <a:t>→ settle points and issue rewards</a:t>
            </a:r>
          </a:p>
        </p:txBody>
      </p:sp>
      <p:sp>
        <p:nvSpPr>
          <p:cNvPr id="17" name="digital-reward-flow">
            <a:extLst xmlns:a="http://schemas.openxmlformats.org/drawingml/2006/main">
              <a:ext uri="{FF2B5EF4-FFF2-40B4-BE49-F238E27FC236}">
                <a16:creationId xmlns:a16="http://schemas.microsoft.com/office/drawing/2014/main" id="{642A1A8B-AB4D-4001-B011-32B70C03E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19700"/>
            <a:ext cx="47625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E6F5EE"/>
          </a:solidFill>
          <a:ln xmlns:a="http://schemas.openxmlformats.org/drawingml/2006/main" w="9525">
            <a:solidFill>
              <a:srgbClr val="C9CCD2"/>
            </a:solidFill>
            <a:prstDash val="solid"/>
          </a:ln>
        </p:spPr>
      </p:sp>
      <p:sp>
        <p:nvSpPr>
          <p:cNvPr id="18" name="goods-reward-flow">
            <a:extLst xmlns:a="http://schemas.openxmlformats.org/drawingml/2006/main">
              <a:ext uri="{FF2B5EF4-FFF2-40B4-BE49-F238E27FC236}">
                <a16:creationId xmlns:a16="http://schemas.microsoft.com/office/drawing/2014/main" id="{F7F1C8D0-30FB-4ECF-8853-C192FD361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219700"/>
            <a:ext cx="47625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E8F2FF"/>
          </a:solidFill>
          <a:ln xmlns:a="http://schemas.openxmlformats.org/drawingml/2006/main" w="9525">
            <a:solidFill>
              <a:srgbClr val="C9CCD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C0F5FF-E4CE-4807-99EC-8D53040BA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429250"/>
            <a:ext cx="430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E9D62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E9D62"/>
                </a:solidFill>
                <a:latin typeface="Arial"/>
                <a:ea typeface="Arial"/>
                <a:cs typeface="Arial"/>
              </a:rPr>
              <a:t>Digital: ISSUED → CLAIMED → REDEEMED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EECDE8-4C20-46AE-AC42-8D9CC0B45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5429250"/>
            <a:ext cx="430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903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Goods: CLAIMED → PROCESSING → SHIPPED → FULFILLED</a:t>
            </a:r>
          </a:p>
        </p:txBody>
      </p:sp>
      <p:sp>
        <p:nvSpPr>
          <p:cNvPr id="21" name="footer-label-9">
            <a:extLst xmlns:a="http://schemas.openxmlformats.org/drawingml/2006/main">
              <a:ext uri="{FF2B5EF4-FFF2-40B4-BE49-F238E27FC236}">
                <a16:creationId xmlns:a16="http://schemas.microsoft.com/office/drawing/2014/main" id="{94ACC7DF-93CB-481C-BE61-152D885E7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198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0646F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60646F"/>
                </a:solidFill>
                <a:latin typeface="Arial"/>
                <a:ea typeface="Arial"/>
                <a:cs typeface="Arial"/>
              </a:rPr>
              <a:t>EQUIX · SWP391</a:t>
            </a:r>
          </a:p>
        </p:txBody>
      </p:sp>
      <p:sp>
        <p:nvSpPr>
          <p:cNvPr id="22" name="footer-page-9">
            <a:extLst xmlns:a="http://schemas.openxmlformats.org/drawingml/2006/main">
              <a:ext uri="{FF2B5EF4-FFF2-40B4-BE49-F238E27FC236}">
                <a16:creationId xmlns:a16="http://schemas.microsoft.com/office/drawing/2014/main" id="{CE420B3F-7A1B-498D-975B-066417040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817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60646F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0646F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4629864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FD6FFEF-27C5-47E3-A59A-F120D310E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11217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111217"/>
                </a:solidFill>
                <a:latin typeface="Arial"/>
                <a:ea typeface="Arial"/>
                <a:cs typeface="Arial"/>
              </a:rPr>
              <a:t>Simulation starts only after the workflow is valid</a:t>
            </a:r>
          </a:p>
        </p:txBody>
      </p:sp>
      <p:sp>
        <p:nvSpPr>
          <p:cNvPr id="2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E418DEC6-C29D-43DE-860D-CA22FFDC0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962025"/>
            <a:ext cx="704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47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0440F6-F7A1-48DC-9BF0-2EA570565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76400"/>
            <a:ext cx="42672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11217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11217"/>
                </a:solidFill>
                <a:latin typeface="Arial"/>
                <a:ea typeface="Arial"/>
                <a:cs typeface="Arial"/>
              </a:rPr>
              <a:t>The live race view synchronizes time and lane positions. Final positions remain provisional until the report is submitted and approved.</a:t>
            </a:r>
          </a:p>
        </p:txBody>
      </p:sp>
      <p:sp>
        <p:nvSpPr>
          <p:cNvPr id="4" name="bullet-0-352-circle">
            <a:extLst xmlns:a="http://schemas.openxmlformats.org/drawingml/2006/main">
              <a:ext uri="{FF2B5EF4-FFF2-40B4-BE49-F238E27FC236}">
                <a16:creationId xmlns:a16="http://schemas.microsoft.com/office/drawing/2014/main" id="{9C81EF95-BAB6-4FB0-A5EB-97F740F60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813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47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bullet-0-352-text">
            <a:extLst xmlns:a="http://schemas.openxmlformats.org/drawingml/2006/main">
              <a:ext uri="{FF2B5EF4-FFF2-40B4-BE49-F238E27FC236}">
                <a16:creationId xmlns:a16="http://schemas.microsoft.com/office/drawing/2014/main" id="{684CDD47-C115-441C-93A3-9D7BAE4B9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90900"/>
            <a:ext cx="209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2593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1D0D35-AF3F-4B0D-9906-4F145FA7C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52800"/>
            <a:ext cx="3924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11217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11217"/>
                </a:solidFill>
                <a:latin typeface="Arial"/>
                <a:ea typeface="Arial"/>
                <a:cs typeface="Arial"/>
              </a:rPr>
              <a:t>At least 6 pairs are FIT</a:t>
            </a:r>
          </a:p>
        </p:txBody>
      </p:sp>
      <p:sp>
        <p:nvSpPr>
          <p:cNvPr id="7" name="bullet-1-352-circle">
            <a:extLst xmlns:a="http://schemas.openxmlformats.org/drawingml/2006/main">
              <a:ext uri="{FF2B5EF4-FFF2-40B4-BE49-F238E27FC236}">
                <a16:creationId xmlns:a16="http://schemas.microsoft.com/office/drawing/2014/main" id="{D8B76984-B2B2-4DD2-9BD5-0CE7DF590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9338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47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bullet-1-352-text">
            <a:extLst xmlns:a="http://schemas.openxmlformats.org/drawingml/2006/main">
              <a:ext uri="{FF2B5EF4-FFF2-40B4-BE49-F238E27FC236}">
                <a16:creationId xmlns:a16="http://schemas.microsoft.com/office/drawing/2014/main" id="{D1D72A19-749B-426E-A379-079987257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943350"/>
            <a:ext cx="209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2593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C991BA-3233-4E50-851A-2FC70761A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05250"/>
            <a:ext cx="3924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11217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11217"/>
                </a:solidFill>
                <a:latin typeface="Arial"/>
                <a:ea typeface="Arial"/>
                <a:cs typeface="Arial"/>
              </a:rPr>
              <a:t>Race is in STANDBY</a:t>
            </a:r>
          </a:p>
        </p:txBody>
      </p:sp>
      <p:sp>
        <p:nvSpPr>
          <p:cNvPr id="10" name="bullet-2-352-circle">
            <a:extLst xmlns:a="http://schemas.openxmlformats.org/drawingml/2006/main">
              <a:ext uri="{FF2B5EF4-FFF2-40B4-BE49-F238E27FC236}">
                <a16:creationId xmlns:a16="http://schemas.microsoft.com/office/drawing/2014/main" id="{EDCDA123-5A7F-43DE-8A9C-0493F71F5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4862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47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bullet-2-352-text">
            <a:extLst xmlns:a="http://schemas.openxmlformats.org/drawingml/2006/main">
              <a:ext uri="{FF2B5EF4-FFF2-40B4-BE49-F238E27FC236}">
                <a16:creationId xmlns:a16="http://schemas.microsoft.com/office/drawing/2014/main" id="{28F19C73-B21D-4F50-81FA-318B60ADE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495800"/>
            <a:ext cx="209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2593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6A03AA-AC5A-4A6E-A7F6-ECE72E296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57700"/>
            <a:ext cx="3924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11217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11217"/>
                </a:solidFill>
                <a:latin typeface="Arial"/>
                <a:ea typeface="Arial"/>
                <a:cs typeface="Arial"/>
              </a:rPr>
              <a:t>The assigned referee is operating</a:t>
            </a:r>
          </a:p>
        </p:txBody>
      </p:sp>
      <p:sp>
        <p:nvSpPr>
          <p:cNvPr id="13" name="bullet-3-352-circle">
            <a:extLst xmlns:a="http://schemas.openxmlformats.org/drawingml/2006/main">
              <a:ext uri="{FF2B5EF4-FFF2-40B4-BE49-F238E27FC236}">
                <a16:creationId xmlns:a16="http://schemas.microsoft.com/office/drawing/2014/main" id="{923C9C12-FC74-4BEB-B23C-AAEF9A13B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0387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47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bullet-3-352-text">
            <a:extLst xmlns:a="http://schemas.openxmlformats.org/drawingml/2006/main">
              <a:ext uri="{FF2B5EF4-FFF2-40B4-BE49-F238E27FC236}">
                <a16:creationId xmlns:a16="http://schemas.microsoft.com/office/drawing/2014/main" id="{CD7D2E0A-B768-48BC-ACAA-8BD94A544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048250"/>
            <a:ext cx="209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2593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665B48-C9EE-4824-AD67-FF9333C08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10150"/>
            <a:ext cx="3924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11217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11217"/>
                </a:solidFill>
                <a:latin typeface="Arial"/>
                <a:ea typeface="Arial"/>
                <a:cs typeface="Arial"/>
              </a:rPr>
              <a:t>Predictions are locked before the start</a:t>
            </a:r>
          </a:p>
        </p:txBody>
      </p:sp>
      <p:sp>
        <p:nvSpPr>
          <p:cNvPr id="16" name="simulation-frame">
            <a:extLst xmlns:a="http://schemas.openxmlformats.org/drawingml/2006/main">
              <a:ext uri="{FF2B5EF4-FFF2-40B4-BE49-F238E27FC236}">
                <a16:creationId xmlns:a16="http://schemas.microsoft.com/office/drawing/2014/main" id="{98B8310A-5735-4B1F-9937-BDCC19609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409700"/>
            <a:ext cx="6629400" cy="4514850"/>
          </a:xfrm>
          <a:prstGeom xmlns:a="http://schemas.openxmlformats.org/drawingml/2006/main" prst="roundRect">
            <a:avLst>
              <a:gd name="adj" fmla="val 1688"/>
            </a:avLst>
          </a:prstGeom>
          <a:solidFill xmlns:a="http://schemas.openxmlformats.org/drawingml/2006/main">
            <a:srgbClr val="101117"/>
          </a:solidFill>
          <a:ln xmlns:a="http://schemas.openxmlformats.org/drawingml/2006/main" w="9525">
            <a:solidFill>
              <a:srgbClr val="C9CCD2"/>
            </a:solidFill>
            <a:prstDash val="solid"/>
          </a:ln>
        </p:spPr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1c8ab571cb44b7"/>
          <a:stretch xmlns:a="http://schemas.openxmlformats.org/drawingml/2006/main"/>
        </p:blipFill>
        <p:spPr>
          <a:xfrm xmlns:a="http://schemas.openxmlformats.org/drawingml/2006/main">
            <a:off x="5257800" y="2165822"/>
            <a:ext cx="6248400" cy="3002607"/>
          </a:xfrm>
          <a:prstGeom xmlns:a="http://schemas.openxmlformats.org/drawingml/2006/main" prst="roundRect">
            <a:avLst>
              <a:gd name="adj" fmla="val 2765"/>
            </a:avLst>
          </a:prstGeom>
        </p:spPr>
      </p:pic>
      <p:sp>
        <p:nvSpPr>
          <p:cNvPr id="18" name="badge-12 SYNCHRONIZED LANES">
            <a:extLst xmlns:a="http://schemas.openxmlformats.org/drawingml/2006/main">
              <a:ext uri="{FF2B5EF4-FFF2-40B4-BE49-F238E27FC236}">
                <a16:creationId xmlns:a16="http://schemas.microsoft.com/office/drawing/2014/main" id="{2772E685-7ED4-4297-AA7E-FADB94C84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5448300"/>
            <a:ext cx="23241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447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ACD2C6-3124-40AF-BD60-5010018AD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5514975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12 SYNCHRONIZED LANES</a:t>
            </a:r>
          </a:p>
        </p:txBody>
      </p:sp>
      <p:sp>
        <p:nvSpPr>
          <p:cNvPr id="20" name="footer-label-10">
            <a:extLst xmlns:a="http://schemas.openxmlformats.org/drawingml/2006/main">
              <a:ext uri="{FF2B5EF4-FFF2-40B4-BE49-F238E27FC236}">
                <a16:creationId xmlns:a16="http://schemas.microsoft.com/office/drawing/2014/main" id="{74CD6E69-7092-46F2-BD7A-8B0E88E8A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198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0646F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60646F"/>
                </a:solidFill>
                <a:latin typeface="Arial"/>
                <a:ea typeface="Arial"/>
                <a:cs typeface="Arial"/>
              </a:rPr>
              <a:t>EQUIX · SWP391</a:t>
            </a:r>
          </a:p>
        </p:txBody>
      </p:sp>
      <p:sp>
        <p:nvSpPr>
          <p:cNvPr id="21" name="footer-page-10">
            <a:extLst xmlns:a="http://schemas.openxmlformats.org/drawingml/2006/main">
              <a:ext uri="{FF2B5EF4-FFF2-40B4-BE49-F238E27FC236}">
                <a16:creationId xmlns:a16="http://schemas.microsoft.com/office/drawing/2014/main" id="{6E2B3E81-0C7D-464A-AB1D-F5C3ED62B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817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60646F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0646F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58250607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E888B05-EB5A-48C3-8452-6AF34FAD0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11217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111217"/>
                </a:solidFill>
                <a:latin typeface="Arial"/>
                <a:ea typeface="Arial"/>
                <a:cs typeface="Arial"/>
              </a:rPr>
              <a:t>Official results require two-person control</a:t>
            </a:r>
          </a:p>
        </p:txBody>
      </p:sp>
      <p:sp>
        <p:nvSpPr>
          <p:cNvPr id="2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7685CDEB-7934-4B97-8C61-A3C359150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962025"/>
            <a:ext cx="704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47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AE32D1DC-5576-48C6-BDBE-76AF891CA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895350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0646F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0646F"/>
                </a:solidFill>
                <a:latin typeface="Arial"/>
                <a:ea typeface="Arial"/>
                <a:cs typeface="Arial"/>
              </a:rPr>
              <a:t>This chain prevents one role from both operating and publishing the entire race.</a:t>
            </a:r>
          </a:p>
        </p:txBody>
      </p:sp>
      <p:cxnSp>
        <p:nvCxnSpPr>
          <p:cNvPr id="25" name="referee-admin-line"/>
          <p:cNvCxnSpPr/>
          <p:nvPr/>
        </p:nvCxnSpPr>
        <p:spPr>
          <a:xfrm xmlns:a="http://schemas.openxmlformats.org/drawingml/2006/main">
            <a:off x="4019550" y="3133725"/>
            <a:ext cx="10668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C9CCD2"/>
            </a:solidFill>
            <a:prstDash val="solid"/>
          </a:ln>
        </p:spPr>
      </p:cxnSp>
      <p:cxnSp>
        <p:nvCxnSpPr>
          <p:cNvPr id="26" name="admin-official-line"/>
          <p:cNvCxnSpPr/>
          <p:nvPr/>
        </p:nvCxnSpPr>
        <p:spPr>
          <a:xfrm xmlns:a="http://schemas.openxmlformats.org/drawingml/2006/main">
            <a:off x="8020050" y="3133725"/>
            <a:ext cx="9144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C9CCD2"/>
            </a:solidFill>
            <a:prstDash val="solid"/>
          </a:ln>
        </p:spPr>
      </p:cxnSp>
      <p:sp>
        <p:nvSpPr>
          <p:cNvPr id="6" name="final-0">
            <a:extLst xmlns:a="http://schemas.openxmlformats.org/drawingml/2006/main">
              <a:ext uri="{FF2B5EF4-FFF2-40B4-BE49-F238E27FC236}">
                <a16:creationId xmlns:a16="http://schemas.microsoft.com/office/drawing/2014/main" id="{2A47D6F4-2551-4454-8152-95FA482B6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43100"/>
            <a:ext cx="2933700" cy="2819400"/>
          </a:xfrm>
          <a:prstGeom xmlns:a="http://schemas.openxmlformats.org/drawingml/2006/main" prst="roundRect">
            <a:avLst>
              <a:gd name="adj" fmla="val 2703"/>
            </a:avLst>
          </a:prstGeom>
          <a:solidFill xmlns:a="http://schemas.openxmlformats.org/drawingml/2006/main">
            <a:srgbClr val="FCE9E7"/>
          </a:solidFill>
          <a:ln xmlns:a="http://schemas.openxmlformats.org/drawingml/2006/main" w="9525">
            <a:solidFill>
              <a:srgbClr val="C9CCD2"/>
            </a:solidFill>
            <a:prstDash val="solid"/>
          </a:ln>
        </p:spPr>
      </p:sp>
      <p:sp>
        <p:nvSpPr>
          <p:cNvPr id="7" name="final-accent-0">
            <a:extLst xmlns:a="http://schemas.openxmlformats.org/drawingml/2006/main">
              <a:ext uri="{FF2B5EF4-FFF2-40B4-BE49-F238E27FC236}">
                <a16:creationId xmlns:a16="http://schemas.microsoft.com/office/drawing/2014/main" id="{F6F97785-12FA-4656-9804-A09C5E2BD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43100"/>
            <a:ext cx="29337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47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B61F11-A114-4BC9-8191-321C6294B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241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E4473A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E4473A"/>
                </a:solidFill>
                <a:latin typeface="Arial"/>
                <a:ea typeface="Arial"/>
                <a:cs typeface="Arial"/>
              </a:rPr>
              <a:t>REFEREE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D91E6B-D38F-4E48-A887-816ECF810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52750"/>
            <a:ext cx="2476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11217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11217"/>
                </a:solidFill>
                <a:latin typeface="Arial"/>
                <a:ea typeface="Arial"/>
                <a:cs typeface="Arial"/>
              </a:rPr>
              <a:t>Complete simulation</a:t>
            </a:r>
          </a:p>
          <a:p xmlns:a="http://schemas.openxmlformats.org/drawingml/2006/main">
            <a:pPr algn="l">
              <a:defRPr sz="1425" b="0" i="0">
                <a:solidFill>
                  <a:srgbClr val="111217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11217"/>
                </a:solidFill>
                <a:latin typeface="Arial"/>
                <a:ea typeface="Arial"/>
                <a:cs typeface="Arial"/>
              </a:rPr>
              <a:t>Record incidents / DNF / DQ</a:t>
            </a:r>
          </a:p>
          <a:p xmlns:a="http://schemas.openxmlformats.org/drawingml/2006/main">
            <a:pPr algn="l">
              <a:defRPr sz="1425" b="0" i="0">
                <a:solidFill>
                  <a:srgbClr val="111217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11217"/>
                </a:solidFill>
                <a:latin typeface="Arial"/>
                <a:ea typeface="Arial"/>
                <a:cs typeface="Arial"/>
              </a:rPr>
              <a:t>Sign and submit report</a:t>
            </a:r>
          </a:p>
        </p:txBody>
      </p:sp>
      <p:sp>
        <p:nvSpPr>
          <p:cNvPr id="10" name="final-1">
            <a:extLst xmlns:a="http://schemas.openxmlformats.org/drawingml/2006/main">
              <a:ext uri="{FF2B5EF4-FFF2-40B4-BE49-F238E27FC236}">
                <a16:creationId xmlns:a16="http://schemas.microsoft.com/office/drawing/2014/main" id="{D2874E13-7E2F-4356-966E-76350314D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943100"/>
            <a:ext cx="2933700" cy="2819400"/>
          </a:xfrm>
          <a:prstGeom xmlns:a="http://schemas.openxmlformats.org/drawingml/2006/main" prst="roundRect">
            <a:avLst>
              <a:gd name="adj" fmla="val 2703"/>
            </a:avLst>
          </a:prstGeom>
          <a:solidFill xmlns:a="http://schemas.openxmlformats.org/drawingml/2006/main">
            <a:srgbClr val="E8F2FF"/>
          </a:solidFill>
          <a:ln xmlns:a="http://schemas.openxmlformats.org/drawingml/2006/main" w="9525">
            <a:solidFill>
              <a:srgbClr val="C9CCD2"/>
            </a:solidFill>
            <a:prstDash val="solid"/>
          </a:ln>
        </p:spPr>
      </p:sp>
      <p:sp>
        <p:nvSpPr>
          <p:cNvPr id="11" name="final-accent-1">
            <a:extLst xmlns:a="http://schemas.openxmlformats.org/drawingml/2006/main">
              <a:ext uri="{FF2B5EF4-FFF2-40B4-BE49-F238E27FC236}">
                <a16:creationId xmlns:a16="http://schemas.microsoft.com/office/drawing/2014/main" id="{54B7ED58-9BD2-4CCF-B8EB-1B12DA89F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943100"/>
            <a:ext cx="29337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FE3AC3-E8BD-4300-9B79-EB425DCDE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3241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ADMINISTRATOR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F82EDE-A3DE-4559-A5E4-16EFD49D4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952750"/>
            <a:ext cx="2476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11217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11217"/>
                </a:solidFill>
                <a:latin typeface="Arial"/>
                <a:ea typeface="Arial"/>
                <a:cs typeface="Arial"/>
              </a:rPr>
              <a:t>Review the report</a:t>
            </a:r>
          </a:p>
          <a:p xmlns:a="http://schemas.openxmlformats.org/drawingml/2006/main">
            <a:pPr algn="l">
              <a:defRPr sz="1425" b="0" i="0">
                <a:solidFill>
                  <a:srgbClr val="111217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11217"/>
                </a:solidFill>
                <a:latin typeface="Arial"/>
                <a:ea typeface="Arial"/>
                <a:cs typeface="Arial"/>
              </a:rPr>
              <a:t>Apply valid rank changes</a:t>
            </a:r>
          </a:p>
          <a:p xmlns:a="http://schemas.openxmlformats.org/drawingml/2006/main">
            <a:pPr algn="l">
              <a:defRPr sz="1425" b="0" i="0">
                <a:solidFill>
                  <a:srgbClr val="111217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11217"/>
                </a:solidFill>
                <a:latin typeface="Arial"/>
                <a:ea typeface="Arial"/>
                <a:cs typeface="Arial"/>
              </a:rPr>
              <a:t>Publish or request revision</a:t>
            </a:r>
          </a:p>
        </p:txBody>
      </p:sp>
      <p:sp>
        <p:nvSpPr>
          <p:cNvPr id="14" name="final-2">
            <a:extLst xmlns:a="http://schemas.openxmlformats.org/drawingml/2006/main">
              <a:ext uri="{FF2B5EF4-FFF2-40B4-BE49-F238E27FC236}">
                <a16:creationId xmlns:a16="http://schemas.microsoft.com/office/drawing/2014/main" id="{6F8408EA-2461-4B3F-8237-E71A374C3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943100"/>
            <a:ext cx="2590800" cy="2819400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E6F5EE"/>
          </a:solidFill>
          <a:ln xmlns:a="http://schemas.openxmlformats.org/drawingml/2006/main" w="9525">
            <a:solidFill>
              <a:srgbClr val="C9CCD2"/>
            </a:solidFill>
            <a:prstDash val="solid"/>
          </a:ln>
        </p:spPr>
      </p:sp>
      <p:sp>
        <p:nvSpPr>
          <p:cNvPr id="15" name="final-accent-2">
            <a:extLst xmlns:a="http://schemas.openxmlformats.org/drawingml/2006/main">
              <a:ext uri="{FF2B5EF4-FFF2-40B4-BE49-F238E27FC236}">
                <a16:creationId xmlns:a16="http://schemas.microsoft.com/office/drawing/2014/main" id="{CF145F3E-D385-4F90-8FDD-504DEF6A7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943100"/>
            <a:ext cx="25908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9D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27D987-AAF2-42BA-8C04-3CB33795A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324100"/>
            <a:ext cx="2133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E9D62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1E9D62"/>
                </a:solidFill>
                <a:latin typeface="Arial"/>
                <a:ea typeface="Arial"/>
                <a:cs typeface="Arial"/>
              </a:rPr>
              <a:t>OFFICIAL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EAAC93-D8F4-4103-8AC9-2887C3C37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952750"/>
            <a:ext cx="21336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11217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11217"/>
                </a:solidFill>
                <a:latin typeface="Arial"/>
                <a:ea typeface="Arial"/>
                <a:cs typeface="Arial"/>
              </a:rPr>
              <a:t>Update leaderboard</a:t>
            </a:r>
          </a:p>
          <a:p xmlns:a="http://schemas.openxmlformats.org/drawingml/2006/main">
            <a:pPr algn="l">
              <a:defRPr sz="1425" b="0" i="0">
                <a:solidFill>
                  <a:srgbClr val="111217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11217"/>
                </a:solidFill>
                <a:latin typeface="Arial"/>
                <a:ea typeface="Arial"/>
                <a:cs typeface="Arial"/>
              </a:rPr>
              <a:t>Allocate prizes 60/30/10</a:t>
            </a:r>
          </a:p>
          <a:p xmlns:a="http://schemas.openxmlformats.org/drawingml/2006/main">
            <a:pPr algn="l">
              <a:defRPr sz="1425" b="0" i="0">
                <a:solidFill>
                  <a:srgbClr val="111217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11217"/>
                </a:solidFill>
                <a:latin typeface="Arial"/>
                <a:ea typeface="Arial"/>
                <a:cs typeface="Arial"/>
              </a:rPr>
              <a:t>Settle predictions + rewards</a:t>
            </a:r>
          </a:p>
        </p:txBody>
      </p:sp>
      <p:sp>
        <p:nvSpPr>
          <p:cNvPr id="18" name="revision-loop">
            <a:extLst xmlns:a="http://schemas.openxmlformats.org/drawingml/2006/main">
              <a:ext uri="{FF2B5EF4-FFF2-40B4-BE49-F238E27FC236}">
                <a16:creationId xmlns:a16="http://schemas.microsoft.com/office/drawing/2014/main" id="{9A5643FC-A82D-479A-A766-EEFBD5E19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219700"/>
            <a:ext cx="76581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C9CCD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F8C04B-C57D-468C-9F5C-785EC0E75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5429250"/>
            <a:ext cx="6972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4886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B93229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B93229"/>
                </a:solidFill>
                <a:latin typeface="Arial"/>
                <a:ea typeface="Arial"/>
                <a:cs typeface="Arial"/>
              </a:rPr>
              <a:t>If the report fails review: REPORT_READY → REVISION_REQUIRED → referee revises and resubmits</a:t>
            </a:r>
          </a:p>
        </p:txBody>
      </p:sp>
      <p:sp>
        <p:nvSpPr>
          <p:cNvPr id="20" name="footer-label-11">
            <a:extLst xmlns:a="http://schemas.openxmlformats.org/drawingml/2006/main">
              <a:ext uri="{FF2B5EF4-FFF2-40B4-BE49-F238E27FC236}">
                <a16:creationId xmlns:a16="http://schemas.microsoft.com/office/drawing/2014/main" id="{CEC66438-0134-4EFD-8DD0-014BF0BE0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198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0646F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60646F"/>
                </a:solidFill>
                <a:latin typeface="Arial"/>
                <a:ea typeface="Arial"/>
                <a:cs typeface="Arial"/>
              </a:rPr>
              <a:t>EQUIX · SWP391</a:t>
            </a:r>
          </a:p>
        </p:txBody>
      </p:sp>
      <p:sp>
        <p:nvSpPr>
          <p:cNvPr id="21" name="footer-page-11">
            <a:extLst xmlns:a="http://schemas.openxmlformats.org/drawingml/2006/main">
              <a:ext uri="{FF2B5EF4-FFF2-40B4-BE49-F238E27FC236}">
                <a16:creationId xmlns:a16="http://schemas.microsoft.com/office/drawing/2014/main" id="{F8CA46F8-1695-42D6-A294-77257089C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817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60646F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0646F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02177297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E283214-34DB-4BF6-BBF4-14A10DA87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11217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111217"/>
                </a:solidFill>
                <a:latin typeface="Arial"/>
                <a:ea typeface="Arial"/>
                <a:cs typeface="Arial"/>
              </a:rPr>
              <a:t>Quality evidence was rerun before presentation</a:t>
            </a:r>
          </a:p>
        </p:txBody>
      </p:sp>
      <p:sp>
        <p:nvSpPr>
          <p:cNvPr id="2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5637BEB9-7C40-47E7-BBEC-67346511A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962025"/>
            <a:ext cx="704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47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4A7A11BF-AB80-4DBE-B579-252D99FFA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895350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0646F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0646F"/>
                </a:solidFill>
                <a:latin typeface="Arial"/>
                <a:ea typeface="Arial"/>
                <a:cs typeface="Arial"/>
              </a:rPr>
              <a:t>Test run completed on July 19, 2026.</a:t>
            </a:r>
          </a:p>
        </p:txBody>
      </p:sp>
      <p:sp>
        <p:nvSpPr>
          <p:cNvPr id="4" name="metric-0">
            <a:extLst xmlns:a="http://schemas.openxmlformats.org/drawingml/2006/main">
              <a:ext uri="{FF2B5EF4-FFF2-40B4-BE49-F238E27FC236}">
                <a16:creationId xmlns:a16="http://schemas.microsoft.com/office/drawing/2014/main" id="{8F192E42-5EE6-4309-B23F-4FEACD178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133600"/>
            <a:ext cx="3486150" cy="278130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101117"/>
          </a:solidFill>
          <a:ln xmlns:a="http://schemas.openxmlformats.org/drawingml/2006/main" w="9525">
            <a:solidFill>
              <a:srgbClr val="C9CCD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E9011A-D4EC-49DA-A02C-B45F08E10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57450"/>
            <a:ext cx="2952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52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09EE8C-2556-45E7-A5E6-E6BBF1DB8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6235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E4473A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E4473A"/>
                </a:solidFill>
                <a:latin typeface="Arial"/>
                <a:ea typeface="Arial"/>
                <a:cs typeface="Arial"/>
              </a:rPr>
              <a:t>TOTAL TESTS PASSED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71DE35-8F75-49B8-A198-EC83E653B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295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DADCE2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DADCE2"/>
                </a:solidFill>
                <a:latin typeface="Arial"/>
                <a:ea typeface="Arial"/>
                <a:cs typeface="Arial"/>
              </a:rPr>
              <a:t>No failures, errors, or skipped tests</a:t>
            </a:r>
          </a:p>
        </p:txBody>
      </p:sp>
      <p:sp>
        <p:nvSpPr>
          <p:cNvPr id="8" name="metric-1">
            <a:extLst xmlns:a="http://schemas.openxmlformats.org/drawingml/2006/main">
              <a:ext uri="{FF2B5EF4-FFF2-40B4-BE49-F238E27FC236}">
                <a16:creationId xmlns:a16="http://schemas.microsoft.com/office/drawing/2014/main" id="{16AD9011-3092-4FB8-8011-0521D2300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133600"/>
            <a:ext cx="3486150" cy="278130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C9CCD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881AB5-5041-4C6D-8B14-B73F1BA2E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457450"/>
            <a:ext cx="2952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650" b="1" i="0">
                <a:solidFill>
                  <a:srgbClr val="111217"/>
                </a:solidFill>
                <a:latin typeface="Arial"/>
                <a:ea typeface="Arial"/>
                <a:cs typeface="Arial"/>
              </a:defRPr>
            </a:pPr>
            <a:r>
              <a:rPr sz="4650" b="1" i="0">
                <a:solidFill>
                  <a:srgbClr val="111217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180FDB-DEE7-49F1-9853-FD0400BDF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56235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B93229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B93229"/>
                </a:solidFill>
                <a:latin typeface="Arial"/>
                <a:ea typeface="Arial"/>
                <a:cs typeface="Arial"/>
              </a:rPr>
              <a:t>BACKEND INTEGRATION TESTS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7FBEEE-576C-4670-A34C-684AA9497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095750"/>
            <a:ext cx="295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0646F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0646F"/>
                </a:solidFill>
                <a:latin typeface="Arial"/>
                <a:ea typeface="Arial"/>
                <a:cs typeface="Arial"/>
              </a:rPr>
              <a:t>Authentication, notifications, workflows, extensions, and rewards</a:t>
            </a:r>
          </a:p>
        </p:txBody>
      </p:sp>
      <p:sp>
        <p:nvSpPr>
          <p:cNvPr id="12" name="metric-2">
            <a:extLst xmlns:a="http://schemas.openxmlformats.org/drawingml/2006/main">
              <a:ext uri="{FF2B5EF4-FFF2-40B4-BE49-F238E27FC236}">
                <a16:creationId xmlns:a16="http://schemas.microsoft.com/office/drawing/2014/main" id="{4EE5F113-A2A7-4FF4-AFC2-B7776B26C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33600"/>
            <a:ext cx="3486150" cy="278130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C9CCD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E07461-D89A-47AC-A22D-5CDE5901B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457450"/>
            <a:ext cx="2952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650" b="1" i="0">
                <a:solidFill>
                  <a:srgbClr val="111217"/>
                </a:solidFill>
                <a:latin typeface="Arial"/>
                <a:ea typeface="Arial"/>
                <a:cs typeface="Arial"/>
              </a:defRPr>
            </a:pPr>
            <a:r>
              <a:rPr sz="4650" b="1" i="0">
                <a:solidFill>
                  <a:srgbClr val="111217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9EF22A-4752-4D73-B27C-3DCAB140A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56235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B93229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B93229"/>
                </a:solidFill>
                <a:latin typeface="Arial"/>
                <a:ea typeface="Arial"/>
                <a:cs typeface="Arial"/>
              </a:rPr>
              <a:t>FRONTEND TESTS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827BAE-EA07-4EC7-9435-CDA481892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095750"/>
            <a:ext cx="295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0646F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0646F"/>
                </a:solidFill>
                <a:latin typeface="Arial"/>
                <a:ea typeface="Arial"/>
                <a:cs typeface="Arial"/>
              </a:rPr>
              <a:t>Role routing, avatars, race mapping, and localization</a:t>
            </a:r>
          </a:p>
        </p:txBody>
      </p:sp>
      <p:sp>
        <p:nvSpPr>
          <p:cNvPr id="16" name="quality-band">
            <a:extLst xmlns:a="http://schemas.openxmlformats.org/drawingml/2006/main">
              <a:ext uri="{FF2B5EF4-FFF2-40B4-BE49-F238E27FC236}">
                <a16:creationId xmlns:a16="http://schemas.microsoft.com/office/drawing/2014/main" id="{75C8FA8A-EEBD-4B43-8839-32BEB1CC0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276850"/>
            <a:ext cx="111442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E6F5EE"/>
          </a:solidFill>
          <a:ln xmlns:a="http://schemas.openxmlformats.org/drawingml/2006/main" w="9525">
            <a:solidFill>
              <a:srgbClr val="C9CCD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3BAAA9-09FB-4148-ACEA-6B7A9DD49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67350"/>
            <a:ext cx="10534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E9D62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E9D62"/>
                </a:solidFill>
                <a:latin typeface="Arial"/>
                <a:ea typeface="Arial"/>
                <a:cs typeface="Arial"/>
              </a:rPr>
              <a:t>✓ Maven BUILD SUCCESS     ✓ ESLint passed     ✓ Vite production build succeeded</a:t>
            </a:r>
          </a:p>
        </p:txBody>
      </p:sp>
      <p:sp>
        <p:nvSpPr>
          <p:cNvPr id="18" name="footer-label-12">
            <a:extLst xmlns:a="http://schemas.openxmlformats.org/drawingml/2006/main">
              <a:ext uri="{FF2B5EF4-FFF2-40B4-BE49-F238E27FC236}">
                <a16:creationId xmlns:a16="http://schemas.microsoft.com/office/drawing/2014/main" id="{4E505436-037E-4D9D-9F7C-D7607C825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198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0646F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60646F"/>
                </a:solidFill>
                <a:latin typeface="Arial"/>
                <a:ea typeface="Arial"/>
                <a:cs typeface="Arial"/>
              </a:rPr>
              <a:t>EQUIX · SWP391</a:t>
            </a:r>
          </a:p>
        </p:txBody>
      </p:sp>
      <p:sp>
        <p:nvSpPr>
          <p:cNvPr id="19" name="footer-page-12">
            <a:extLst xmlns:a="http://schemas.openxmlformats.org/drawingml/2006/main">
              <a:ext uri="{FF2B5EF4-FFF2-40B4-BE49-F238E27FC236}">
                <a16:creationId xmlns:a16="http://schemas.microsoft.com/office/drawing/2014/main" id="{42F65C9C-F11C-4358-BE8C-EC21C359E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817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60646F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0646F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5418358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A55288B-9B1B-4296-9EE2-8757D1BB7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11217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111217"/>
                </a:solidFill>
                <a:latin typeface="Arial"/>
                <a:ea typeface="Arial"/>
                <a:cs typeface="Arial"/>
              </a:rPr>
              <a:t>A 12–15 minute demo follows the business workflow</a:t>
            </a:r>
          </a:p>
        </p:txBody>
      </p:sp>
      <p:sp>
        <p:nvSpPr>
          <p:cNvPr id="2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1EB8A75A-5D85-43F3-B0D9-C9B18C34D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962025"/>
            <a:ext cx="704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47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DA0CD1BD-0B42-4969-BB53-7D89885F7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895350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0646F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0646F"/>
                </a:solidFill>
                <a:latin typeface="Arial"/>
                <a:ea typeface="Arial"/>
                <a:cs typeface="Arial"/>
              </a:rPr>
              <a:t>This order reduces risk and shows how data moves across multiple roles.</a:t>
            </a:r>
          </a:p>
        </p:txBody>
      </p:sp>
      <p:sp>
        <p:nvSpPr>
          <p:cNvPr id="4" name="table-header-bg">
            <a:extLst xmlns:a="http://schemas.openxmlformats.org/drawingml/2006/main">
              <a:ext uri="{FF2B5EF4-FFF2-40B4-BE49-F238E27FC236}">
                <a16:creationId xmlns:a16="http://schemas.microsoft.com/office/drawing/2014/main" id="{161C183D-4E13-4896-8D3C-767AAA6DD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28750"/>
            <a:ext cx="106299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1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CB0D4F-4A02-46DA-A86A-7E0A2CC71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95425"/>
            <a:ext cx="6286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Step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EA4103-4A03-4B21-8F4C-4B7E28225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495425"/>
            <a:ext cx="1809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Role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94BE28-5926-4FEC-BE64-9B1143F38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495425"/>
            <a:ext cx="5905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Demo activity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1B8864-6C90-4EAD-90AD-1004DE5AE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495425"/>
            <a:ext cx="1524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Duration</a:t>
            </a:r>
          </a:p>
        </p:txBody>
      </p:sp>
      <p:sp>
        <p:nvSpPr>
          <p:cNvPr id="9" name="table-row-0">
            <a:extLst xmlns:a="http://schemas.openxmlformats.org/drawingml/2006/main">
              <a:ext uri="{FF2B5EF4-FFF2-40B4-BE49-F238E27FC236}">
                <a16:creationId xmlns:a16="http://schemas.microsoft.com/office/drawing/2014/main" id="{21293CA2-A898-49D7-9550-282ED1210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09775"/>
            <a:ext cx="106299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CD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8C75AF-7547-467F-ACFD-DD64D7690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57400"/>
            <a:ext cx="6286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11217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1121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A3B72F-E58D-4DA2-AA1E-26C4215BF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057400"/>
            <a:ext cx="1809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11217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11217"/>
                </a:solidFill>
                <a:latin typeface="Arial"/>
                <a:ea typeface="Arial"/>
                <a:cs typeface="Arial"/>
              </a:rPr>
              <a:t>Guest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D12C46-6695-486C-B096-4F2D01E56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057400"/>
            <a:ext cx="5905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11217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11217"/>
                </a:solidFill>
                <a:latin typeface="Arial"/>
                <a:ea typeface="Arial"/>
                <a:cs typeface="Arial"/>
              </a:rPr>
              <a:t>Public pages, race list, leaderboard, and registration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C1A38A-046D-4E88-BDD2-D3168C8D1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057400"/>
            <a:ext cx="15240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11217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11217"/>
                </a:solidFill>
                <a:latin typeface="Arial"/>
                <a:ea typeface="Arial"/>
                <a:cs typeface="Arial"/>
              </a:rPr>
              <a:t>1 min</a:t>
            </a:r>
          </a:p>
        </p:txBody>
      </p:sp>
      <p:sp>
        <p:nvSpPr>
          <p:cNvPr id="14" name="table-row-1">
            <a:extLst xmlns:a="http://schemas.openxmlformats.org/drawingml/2006/main">
              <a:ext uri="{FF2B5EF4-FFF2-40B4-BE49-F238E27FC236}">
                <a16:creationId xmlns:a16="http://schemas.microsoft.com/office/drawing/2014/main" id="{83969C3B-CC40-4389-A951-D5CC3EFE2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90800"/>
            <a:ext cx="106299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C9CCD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BA3339-46D5-4BAF-B7ED-AE8C5CC34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38425"/>
            <a:ext cx="6286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11217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1121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259739-E8BF-4155-8ED6-B720CB486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638425"/>
            <a:ext cx="1809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11217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11217"/>
                </a:solidFill>
                <a:latin typeface="Arial"/>
                <a:ea typeface="Arial"/>
                <a:cs typeface="Arial"/>
              </a:rPr>
              <a:t>Spectator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877265-254B-4018-83DF-BE908CA3E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638425"/>
            <a:ext cx="5905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11217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11217"/>
                </a:solidFill>
                <a:latin typeface="Arial"/>
                <a:ea typeface="Arial"/>
                <a:cs typeface="Arial"/>
              </a:rPr>
              <a:t>Place one prediction before the race reaches STANDBY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FD42C4-EBCB-4DE2-A3CA-8685009D3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638425"/>
            <a:ext cx="15240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11217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11217"/>
                </a:solidFill>
                <a:latin typeface="Arial"/>
                <a:ea typeface="Arial"/>
                <a:cs typeface="Arial"/>
              </a:rPr>
              <a:t>1 min</a:t>
            </a:r>
          </a:p>
        </p:txBody>
      </p:sp>
      <p:sp>
        <p:nvSpPr>
          <p:cNvPr id="19" name="table-row-2">
            <a:extLst xmlns:a="http://schemas.openxmlformats.org/drawingml/2006/main">
              <a:ext uri="{FF2B5EF4-FFF2-40B4-BE49-F238E27FC236}">
                <a16:creationId xmlns:a16="http://schemas.microsoft.com/office/drawing/2014/main" id="{B140920A-2231-4114-9334-8F96A1CDE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171825"/>
            <a:ext cx="106299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CD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942638C-ACD7-4124-8E7A-6B6234058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19450"/>
            <a:ext cx="6286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11217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1121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A4CFAC6-C5CA-4AF2-8B58-E906D2DB9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219450"/>
            <a:ext cx="1809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11217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11217"/>
                </a:solidFill>
                <a:latin typeface="Arial"/>
                <a:ea typeface="Arial"/>
                <a:cs typeface="Arial"/>
              </a:rPr>
              <a:t>Owner + Jockey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8B40E2D-8EB1-4F1D-9A64-39CF9741D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219450"/>
            <a:ext cx="5905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11217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11217"/>
                </a:solidFill>
                <a:latin typeface="Arial"/>
                <a:ea typeface="Arial"/>
                <a:cs typeface="Arial"/>
              </a:rPr>
              <a:t>Manage horses; send and accept an invitation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50B5553-2C62-4330-AEE4-1E2C1A1E5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219450"/>
            <a:ext cx="15240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11217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11217"/>
                </a:solidFill>
                <a:latin typeface="Arial"/>
                <a:ea typeface="Arial"/>
                <a:cs typeface="Arial"/>
              </a:rPr>
              <a:t>3 min</a:t>
            </a:r>
          </a:p>
        </p:txBody>
      </p:sp>
      <p:sp>
        <p:nvSpPr>
          <p:cNvPr id="24" name="table-row-3">
            <a:extLst xmlns:a="http://schemas.openxmlformats.org/drawingml/2006/main">
              <a:ext uri="{FF2B5EF4-FFF2-40B4-BE49-F238E27FC236}">
                <a16:creationId xmlns:a16="http://schemas.microsoft.com/office/drawing/2014/main" id="{3288C989-2FD1-417D-8B84-2B2101ADE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752850"/>
            <a:ext cx="106299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C9CCD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1C821C8-25DC-4DC2-A19B-5F88BC03B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00475"/>
            <a:ext cx="6286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11217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11217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DA508BA-12BF-4193-B292-9629587D1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800475"/>
            <a:ext cx="1809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11217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11217"/>
                </a:solidFill>
                <a:latin typeface="Arial"/>
                <a:ea typeface="Arial"/>
                <a:cs typeface="Arial"/>
              </a:rPr>
              <a:t>Administrator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4618545-9D08-494B-9AC2-E22BF9E27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800475"/>
            <a:ext cx="5905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11217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11217"/>
                </a:solidFill>
                <a:latin typeface="Arial"/>
                <a:ea typeface="Arial"/>
                <a:cs typeface="Arial"/>
              </a:rPr>
              <a:t>Approve a pair; create and manage race schedules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CD79B4D-5673-4A5D-A937-EA7EF7E13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800475"/>
            <a:ext cx="15240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11217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11217"/>
                </a:solidFill>
                <a:latin typeface="Arial"/>
                <a:ea typeface="Arial"/>
                <a:cs typeface="Arial"/>
              </a:rPr>
              <a:t>2 min</a:t>
            </a:r>
          </a:p>
        </p:txBody>
      </p:sp>
      <p:sp>
        <p:nvSpPr>
          <p:cNvPr id="29" name="table-row-4">
            <a:extLst xmlns:a="http://schemas.openxmlformats.org/drawingml/2006/main">
              <a:ext uri="{FF2B5EF4-FFF2-40B4-BE49-F238E27FC236}">
                <a16:creationId xmlns:a16="http://schemas.microsoft.com/office/drawing/2014/main" id="{595F0CAF-F1DE-4B90-AC05-B18317B12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333875"/>
            <a:ext cx="106299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CD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5F5ABC2-40BB-488D-B88E-C9478EB00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81500"/>
            <a:ext cx="6286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11217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11217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F68B763-4DEE-4827-B908-6336B9692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381500"/>
            <a:ext cx="1809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11217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11217"/>
                </a:solidFill>
                <a:latin typeface="Arial"/>
                <a:ea typeface="Arial"/>
                <a:cs typeface="Arial"/>
              </a:rPr>
              <a:t>Referee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CE5CBBE-6235-4607-885A-7BB516A90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381500"/>
            <a:ext cx="5905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11217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11217"/>
                </a:solidFill>
                <a:latin typeface="Arial"/>
                <a:ea typeface="Arial"/>
                <a:cs typeface="Arial"/>
              </a:rPr>
              <a:t>Fitness check → STANDBY → Start → Simulate → Report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A072A50-C840-421E-A633-0B9F21CB0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381500"/>
            <a:ext cx="15240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11217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11217"/>
                </a:solidFill>
                <a:latin typeface="Arial"/>
                <a:ea typeface="Arial"/>
                <a:cs typeface="Arial"/>
              </a:rPr>
              <a:t>3 min</a:t>
            </a:r>
          </a:p>
        </p:txBody>
      </p:sp>
      <p:sp>
        <p:nvSpPr>
          <p:cNvPr id="34" name="table-row-5">
            <a:extLst xmlns:a="http://schemas.openxmlformats.org/drawingml/2006/main">
              <a:ext uri="{FF2B5EF4-FFF2-40B4-BE49-F238E27FC236}">
                <a16:creationId xmlns:a16="http://schemas.microsoft.com/office/drawing/2014/main" id="{79808531-D8AE-43DC-AAD3-8B0A5495F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914900"/>
            <a:ext cx="106299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C9CCD2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59DECDA-AF8E-49D6-8BEE-EE2EE6459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62525"/>
            <a:ext cx="6286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11217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11217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5CE5F19-A333-418C-A9BC-887943256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962525"/>
            <a:ext cx="1809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11217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11217"/>
                </a:solidFill>
                <a:latin typeface="Arial"/>
                <a:ea typeface="Arial"/>
                <a:cs typeface="Arial"/>
              </a:rPr>
              <a:t>Administrator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64437F2-38D4-41BA-BBB8-A202CB5A6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962525"/>
            <a:ext cx="5905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11217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11217"/>
                </a:solidFill>
                <a:latin typeface="Arial"/>
                <a:ea typeface="Arial"/>
                <a:cs typeface="Arial"/>
              </a:rPr>
              <a:t>Review and publish the result as OFFICIAL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0EDC4D2-6134-4397-8954-516C90BB6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962525"/>
            <a:ext cx="15240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11217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11217"/>
                </a:solidFill>
                <a:latin typeface="Arial"/>
                <a:ea typeface="Arial"/>
                <a:cs typeface="Arial"/>
              </a:rPr>
              <a:t>2 min</a:t>
            </a:r>
          </a:p>
        </p:txBody>
      </p:sp>
      <p:sp>
        <p:nvSpPr>
          <p:cNvPr id="39" name="table-row-6">
            <a:extLst xmlns:a="http://schemas.openxmlformats.org/drawingml/2006/main">
              <a:ext uri="{FF2B5EF4-FFF2-40B4-BE49-F238E27FC236}">
                <a16:creationId xmlns:a16="http://schemas.microsoft.com/office/drawing/2014/main" id="{AC5FF3C2-3437-495B-B486-EA84A05C7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95925"/>
            <a:ext cx="106299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CD2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57A287A-7F0E-4E39-9C6F-628B2A8CB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43550"/>
            <a:ext cx="6286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11217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11217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4EAE0BE-68CC-409C-8611-D97925C72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543550"/>
            <a:ext cx="1809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11217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11217"/>
                </a:solidFill>
                <a:latin typeface="Arial"/>
                <a:ea typeface="Arial"/>
                <a:cs typeface="Arial"/>
              </a:rPr>
              <a:t>Spectator + Admin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9B899CF-C532-40BC-A47A-92B819B1F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5543550"/>
            <a:ext cx="5905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11217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11217"/>
                </a:solidFill>
                <a:latin typeface="Arial"/>
                <a:ea typeface="Arial"/>
                <a:cs typeface="Arial"/>
              </a:rPr>
              <a:t>Claim/redeem rewards or process goods fulfillment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1C29BF5-6893-4930-8C0A-3160E97AF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5543550"/>
            <a:ext cx="15240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11217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11217"/>
                </a:solidFill>
                <a:latin typeface="Arial"/>
                <a:ea typeface="Arial"/>
                <a:cs typeface="Arial"/>
              </a:rPr>
              <a:t>2 min</a:t>
            </a:r>
          </a:p>
        </p:txBody>
      </p:sp>
      <p:sp>
        <p:nvSpPr>
          <p:cNvPr id="44" name="footer-label-13">
            <a:extLst xmlns:a="http://schemas.openxmlformats.org/drawingml/2006/main">
              <a:ext uri="{FF2B5EF4-FFF2-40B4-BE49-F238E27FC236}">
                <a16:creationId xmlns:a16="http://schemas.microsoft.com/office/drawing/2014/main" id="{34DB6B32-E16C-4AB5-919F-931891E35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198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0646F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60646F"/>
                </a:solidFill>
                <a:latin typeface="Arial"/>
                <a:ea typeface="Arial"/>
                <a:cs typeface="Arial"/>
              </a:rPr>
              <a:t>EQUIX · SWP391</a:t>
            </a:r>
          </a:p>
        </p:txBody>
      </p:sp>
      <p:sp>
        <p:nvSpPr>
          <p:cNvPr id="45" name="footer-page-13">
            <a:extLst xmlns:a="http://schemas.openxmlformats.org/drawingml/2006/main">
              <a:ext uri="{FF2B5EF4-FFF2-40B4-BE49-F238E27FC236}">
                <a16:creationId xmlns:a16="http://schemas.microsoft.com/office/drawing/2014/main" id="{CA4E805D-63BC-4F62-9E4E-9955F9E6F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817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60646F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0646F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24995302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88F1F06-9CD1-4ED5-AE2B-161D31153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11217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111217"/>
                </a:solidFill>
                <a:latin typeface="Arial"/>
                <a:ea typeface="Arial"/>
                <a:cs typeface="Arial"/>
              </a:rPr>
              <a:t>V4 closes the main gaps; deployment is the next step</a:t>
            </a:r>
          </a:p>
        </p:txBody>
      </p:sp>
      <p:sp>
        <p:nvSpPr>
          <p:cNvPr id="2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9736DA7B-5031-4366-A259-860CE11FD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962025"/>
            <a:ext cx="704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47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losed-gaps">
            <a:extLst xmlns:a="http://schemas.openxmlformats.org/drawingml/2006/main">
              <a:ext uri="{FF2B5EF4-FFF2-40B4-BE49-F238E27FC236}">
                <a16:creationId xmlns:a16="http://schemas.microsoft.com/office/drawing/2014/main" id="{B701B0D3-7CB1-4FBE-892A-FBD26AC4C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81150"/>
            <a:ext cx="5353050" cy="4229100"/>
          </a:xfrm>
          <a:prstGeom xmlns:a="http://schemas.openxmlformats.org/drawingml/2006/main" prst="roundRect">
            <a:avLst>
              <a:gd name="adj" fmla="val 1802"/>
            </a:avLst>
          </a:prstGeom>
          <a:solidFill xmlns:a="http://schemas.openxmlformats.org/drawingml/2006/main">
            <a:srgbClr val="E6F5EE"/>
          </a:solidFill>
          <a:ln xmlns:a="http://schemas.openxmlformats.org/drawingml/2006/main" w="9525">
            <a:solidFill>
              <a:srgbClr val="C9CCD2"/>
            </a:solidFill>
            <a:prstDash val="solid"/>
          </a:ln>
        </p:spPr>
      </p:sp>
      <p:sp>
        <p:nvSpPr>
          <p:cNvPr id="4" name="roadmap">
            <a:extLst xmlns:a="http://schemas.openxmlformats.org/drawingml/2006/main">
              <a:ext uri="{FF2B5EF4-FFF2-40B4-BE49-F238E27FC236}">
                <a16:creationId xmlns:a16="http://schemas.microsoft.com/office/drawing/2014/main" id="{0DCBD83C-0AB6-4333-92ED-7BDD83499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581150"/>
            <a:ext cx="5543550" cy="4229100"/>
          </a:xfrm>
          <a:prstGeom xmlns:a="http://schemas.openxmlformats.org/drawingml/2006/main" prst="roundRect">
            <a:avLst>
              <a:gd name="adj" fmla="val 1802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C9CCD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C2A921-74A9-4DD7-98E4-D0BE748A5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43100"/>
            <a:ext cx="457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1E9D62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E9D62"/>
                </a:solidFill>
                <a:latin typeface="Arial"/>
                <a:ea typeface="Arial"/>
                <a:cs typeface="Arial"/>
              </a:rPr>
              <a:t>Completed in V4</a:t>
            </a:r>
          </a:p>
        </p:txBody>
      </p:sp>
      <p:sp>
        <p:nvSpPr>
          <p:cNvPr id="6" name="bullet-0-286-circle">
            <a:extLst xmlns:a="http://schemas.openxmlformats.org/drawingml/2006/main">
              <a:ext uri="{FF2B5EF4-FFF2-40B4-BE49-F238E27FC236}">
                <a16:creationId xmlns:a16="http://schemas.microsoft.com/office/drawing/2014/main" id="{835BBEB9-5344-435A-BD6B-0BA20F52E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527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47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bullet-0-286-text">
            <a:extLst xmlns:a="http://schemas.openxmlformats.org/drawingml/2006/main">
              <a:ext uri="{FF2B5EF4-FFF2-40B4-BE49-F238E27FC236}">
                <a16:creationId xmlns:a16="http://schemas.microsoft.com/office/drawing/2014/main" id="{920E4188-8344-46C7-BC53-B8E151E01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62250"/>
            <a:ext cx="209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2593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642F07-D371-40AC-B4EE-86CDDA782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24150"/>
            <a:ext cx="4229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11217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11217"/>
                </a:solidFill>
                <a:latin typeface="Arial"/>
                <a:ea typeface="Arial"/>
                <a:cs typeface="Arial"/>
              </a:rPr>
              <a:t>Password reset and verified email change</a:t>
            </a:r>
          </a:p>
        </p:txBody>
      </p:sp>
      <p:sp>
        <p:nvSpPr>
          <p:cNvPr id="9" name="bullet-1-286-circle">
            <a:extLst xmlns:a="http://schemas.openxmlformats.org/drawingml/2006/main">
              <a:ext uri="{FF2B5EF4-FFF2-40B4-BE49-F238E27FC236}">
                <a16:creationId xmlns:a16="http://schemas.microsoft.com/office/drawing/2014/main" id="{C7B4CB59-3B38-4B9D-B4A9-7AF2A8EFE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861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47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bullet-1-286-text">
            <a:extLst xmlns:a="http://schemas.openxmlformats.org/drawingml/2006/main">
              <a:ext uri="{FF2B5EF4-FFF2-40B4-BE49-F238E27FC236}">
                <a16:creationId xmlns:a16="http://schemas.microsoft.com/office/drawing/2014/main" id="{E653B492-BE4F-4EE0-9CFC-B8810CA7E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95650"/>
            <a:ext cx="209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2593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95D535-56EB-40AF-B0BD-85D57307C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57550"/>
            <a:ext cx="4229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11217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11217"/>
                </a:solidFill>
                <a:latin typeface="Arial"/>
                <a:ea typeface="Arial"/>
                <a:cs typeface="Arial"/>
              </a:rPr>
              <a:t>Notification center and fixed-position toasts</a:t>
            </a:r>
          </a:p>
        </p:txBody>
      </p:sp>
      <p:sp>
        <p:nvSpPr>
          <p:cNvPr id="12" name="bullet-2-286-circle">
            <a:extLst xmlns:a="http://schemas.openxmlformats.org/drawingml/2006/main">
              <a:ext uri="{FF2B5EF4-FFF2-40B4-BE49-F238E27FC236}">
                <a16:creationId xmlns:a16="http://schemas.microsoft.com/office/drawing/2014/main" id="{A0F18068-3E54-42F1-AE08-AE335B89D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195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47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bullet-2-286-text">
            <a:extLst xmlns:a="http://schemas.openxmlformats.org/drawingml/2006/main">
              <a:ext uri="{FF2B5EF4-FFF2-40B4-BE49-F238E27FC236}">
                <a16:creationId xmlns:a16="http://schemas.microsoft.com/office/drawing/2014/main" id="{76FC7666-7B6D-433F-ADAC-544D916DF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29050"/>
            <a:ext cx="209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2593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BFEFB9-74B2-4174-A52B-3B1CB2B45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90950"/>
            <a:ext cx="4229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11217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11217"/>
                </a:solidFill>
                <a:latin typeface="Arial"/>
                <a:ea typeface="Arial"/>
                <a:cs typeface="Arial"/>
              </a:rPr>
              <a:t>DNF, dead heat, and disqualification</a:t>
            </a:r>
          </a:p>
        </p:txBody>
      </p:sp>
      <p:sp>
        <p:nvSpPr>
          <p:cNvPr id="15" name="bullet-3-286-circle">
            <a:extLst xmlns:a="http://schemas.openxmlformats.org/drawingml/2006/main">
              <a:ext uri="{FF2B5EF4-FFF2-40B4-BE49-F238E27FC236}">
                <a16:creationId xmlns:a16="http://schemas.microsoft.com/office/drawing/2014/main" id="{8463B25C-F5BC-4551-BD88-4D2A7A50A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529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47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bullet-3-286-text">
            <a:extLst xmlns:a="http://schemas.openxmlformats.org/drawingml/2006/main">
              <a:ext uri="{FF2B5EF4-FFF2-40B4-BE49-F238E27FC236}">
                <a16:creationId xmlns:a16="http://schemas.microsoft.com/office/drawing/2014/main" id="{003EEC8A-D760-436D-86DC-39129EF93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62450"/>
            <a:ext cx="209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2593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719712-EE49-47E6-91BF-A7D8DEF47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24350"/>
            <a:ext cx="4229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11217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11217"/>
                </a:solidFill>
                <a:latin typeface="Arial"/>
                <a:ea typeface="Arial"/>
                <a:cs typeface="Arial"/>
              </a:rPr>
              <a:t>Referee reassignment, rescheduling, and cancellation</a:t>
            </a:r>
          </a:p>
        </p:txBody>
      </p:sp>
      <p:sp>
        <p:nvSpPr>
          <p:cNvPr id="18" name="bullet-4-286-circle">
            <a:extLst xmlns:a="http://schemas.openxmlformats.org/drawingml/2006/main">
              <a:ext uri="{FF2B5EF4-FFF2-40B4-BE49-F238E27FC236}">
                <a16:creationId xmlns:a16="http://schemas.microsoft.com/office/drawing/2014/main" id="{41BC3C10-C32E-406E-911D-7B14B0446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863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47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bullet-4-286-text">
            <a:extLst xmlns:a="http://schemas.openxmlformats.org/drawingml/2006/main">
              <a:ext uri="{FF2B5EF4-FFF2-40B4-BE49-F238E27FC236}">
                <a16:creationId xmlns:a16="http://schemas.microsoft.com/office/drawing/2014/main" id="{7DE78D1A-456B-47C5-8692-93C65406B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95850"/>
            <a:ext cx="209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2593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957B37-94E8-4305-ABF9-AE5CD4F1F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57750"/>
            <a:ext cx="4229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11217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11217"/>
                </a:solidFill>
                <a:latin typeface="Arial"/>
                <a:ea typeface="Arial"/>
                <a:cs typeface="Arial"/>
              </a:rPr>
              <a:t>Reward codes, QR, and fulfillment queue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461F6D4-0699-4133-BD18-A665A0B58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43100"/>
            <a:ext cx="457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111217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11217"/>
                </a:solidFill>
                <a:latin typeface="Arial"/>
                <a:ea typeface="Arial"/>
                <a:cs typeface="Arial"/>
              </a:rPr>
              <a:t>Development roadmap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E284AE4-4DEC-4A86-AB65-1CD37860B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705100"/>
            <a:ext cx="46101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11217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11217"/>
                </a:solidFill>
                <a:latin typeface="Arial"/>
                <a:ea typeface="Arial"/>
                <a:cs typeface="Arial"/>
              </a:rPr>
              <a:t>01  Production SMTP email service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 i="0">
                <a:solidFill>
                  <a:srgbClr val="111217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11217"/>
                </a:solidFill>
                <a:latin typeface="Arial"/>
                <a:ea typeface="Arial"/>
                <a:cs typeface="Arial"/>
              </a:rPr>
              <a:t>02  Containerization and CI/CD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 i="0">
                <a:solidFill>
                  <a:srgbClr val="111217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11217"/>
                </a:solidFill>
                <a:latin typeface="Arial"/>
                <a:ea typeface="Arial"/>
                <a:cs typeface="Arial"/>
              </a:rPr>
              <a:t>03  Real-time monitoring and advanced audit logs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 i="0">
                <a:solidFill>
                  <a:srgbClr val="111217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11217"/>
                </a:solidFill>
                <a:latin typeface="Arial"/>
                <a:ea typeface="Arial"/>
                <a:cs typeface="Arial"/>
              </a:rPr>
              <a:t>04  Frontend bundle optimization and data pagination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 i="0">
                <a:solidFill>
                  <a:srgbClr val="111217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11217"/>
                </a:solidFill>
                <a:latin typeface="Arial"/>
                <a:ea typeface="Arial"/>
                <a:cs typeface="Arial"/>
              </a:rPr>
              <a:t>05  Cloud deployment + automated backups</a:t>
            </a:r>
          </a:p>
        </p:txBody>
      </p:sp>
      <p:sp>
        <p:nvSpPr>
          <p:cNvPr id="23" name="footer-label-14">
            <a:extLst xmlns:a="http://schemas.openxmlformats.org/drawingml/2006/main">
              <a:ext uri="{FF2B5EF4-FFF2-40B4-BE49-F238E27FC236}">
                <a16:creationId xmlns:a16="http://schemas.microsoft.com/office/drawing/2014/main" id="{44383E00-91E2-4784-BB67-A3999926C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198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0646F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60646F"/>
                </a:solidFill>
                <a:latin typeface="Arial"/>
                <a:ea typeface="Arial"/>
                <a:cs typeface="Arial"/>
              </a:rPr>
              <a:t>EQUIX · SWP391</a:t>
            </a:r>
          </a:p>
        </p:txBody>
      </p:sp>
      <p:sp>
        <p:nvSpPr>
          <p:cNvPr id="24" name="footer-page-14">
            <a:extLst xmlns:a="http://schemas.openxmlformats.org/drawingml/2006/main">
              <a:ext uri="{FF2B5EF4-FFF2-40B4-BE49-F238E27FC236}">
                <a16:creationId xmlns:a16="http://schemas.microsoft.com/office/drawing/2014/main" id="{3830CB7A-FE17-4ADA-A3F4-148153CF0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817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60646F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0646F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207685759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C5484D-C8A3-4FE2-BCCD-C777AD85A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3815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E4473A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E4473A"/>
                </a:solidFill>
                <a:latin typeface="Arial"/>
                <a:ea typeface="Arial"/>
                <a:cs typeface="Arial"/>
              </a:rPr>
              <a:t>CONCLUSION</a:t>
            </a:r>
          </a:p>
        </p:txBody>
      </p:sp>
      <p:sp>
        <p:nvSpPr>
          <p:cNvPr id="2" name="closing-title">
            <a:extLst xmlns:a="http://schemas.openxmlformats.org/drawingml/2006/main">
              <a:ext uri="{FF2B5EF4-FFF2-40B4-BE49-F238E27FC236}">
                <a16:creationId xmlns:a16="http://schemas.microsoft.com/office/drawing/2014/main" id="{73D3B290-52AA-4A0D-A210-B6538C236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57350"/>
            <a:ext cx="1038225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 i="0">
                <a:solidFill>
                  <a:srgbClr val="111217"/>
                </a:solidFill>
                <a:latin typeface="Arial"/>
                <a:ea typeface="Arial"/>
                <a:cs typeface="Arial"/>
              </a:defRPr>
            </a:pPr>
            <a:r>
              <a:rPr sz="3900" b="1" i="0">
                <a:solidFill>
                  <a:srgbClr val="111217"/>
                </a:solidFill>
                <a:latin typeface="Arial"/>
                <a:ea typeface="Arial"/>
                <a:cs typeface="Arial"/>
              </a:rPr>
              <a:t>EquiX turns complex business logic</a:t>
            </a:r>
          </a:p>
          <a:p xmlns:a="http://schemas.openxmlformats.org/drawingml/2006/main">
            <a:pPr algn="l">
              <a:defRPr sz="3900" b="1" i="0">
                <a:solidFill>
                  <a:srgbClr val="111217"/>
                </a:solidFill>
                <a:latin typeface="Arial"/>
                <a:ea typeface="Arial"/>
                <a:cs typeface="Arial"/>
              </a:defRPr>
            </a:pPr>
            <a:r>
              <a:rPr sz="3900" b="1" i="0">
                <a:solidFill>
                  <a:srgbClr val="111217"/>
                </a:solidFill>
                <a:latin typeface="Arial"/>
                <a:ea typeface="Arial"/>
                <a:cs typeface="Arial"/>
              </a:rPr>
              <a:t>into a controlled workflow.</a:t>
            </a:r>
          </a:p>
        </p:txBody>
      </p:sp>
      <p:sp>
        <p:nvSpPr>
          <p:cNvPr id="3" name="closing-red-line">
            <a:extLst xmlns:a="http://schemas.openxmlformats.org/drawingml/2006/main">
              <a:ext uri="{FF2B5EF4-FFF2-40B4-BE49-F238E27FC236}">
                <a16:creationId xmlns:a16="http://schemas.microsoft.com/office/drawing/2014/main" id="{C7E00063-DBE4-4676-B56D-C95D51119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886200"/>
            <a:ext cx="2952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47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CD5884-8E3E-4585-96C8-BF8BD992A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457700"/>
            <a:ext cx="809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60646F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60646F"/>
                </a:solidFill>
                <a:latin typeface="Arial"/>
                <a:ea typeface="Arial"/>
                <a:cs typeface="Arial"/>
              </a:rPr>
              <a:t>Full-stack · 5 roles · SQL Server · JWT/RBAC · 52 tests passed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A9F0F3-E19D-4118-B116-271E228CD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53050"/>
            <a:ext cx="609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11217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111217"/>
                </a:solidFill>
                <a:latin typeface="Arial"/>
                <a:ea typeface="Arial"/>
                <a:cs typeface="Arial"/>
              </a:rPr>
              <a:t>Ready for a live demonstration and discussion.</a:t>
            </a:r>
          </a:p>
        </p:txBody>
      </p:sp>
      <p:sp>
        <p:nvSpPr>
          <p:cNvPr id="6" name="badge-QUESTIONS &amp; DISCUSSION">
            <a:extLst xmlns:a="http://schemas.openxmlformats.org/drawingml/2006/main">
              <a:ext uri="{FF2B5EF4-FFF2-40B4-BE49-F238E27FC236}">
                <a16:creationId xmlns:a16="http://schemas.microsoft.com/office/drawing/2014/main" id="{B1627442-3EEA-4FB2-B505-BAABCEBF4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219700"/>
            <a:ext cx="2571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11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9AFDBA-8F38-4928-A77B-10099F204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5286375"/>
            <a:ext cx="2343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QUESTIONS &amp; DISCUSSION</a:t>
            </a:r>
          </a:p>
        </p:txBody>
      </p:sp>
      <p:sp>
        <p:nvSpPr>
          <p:cNvPr id="8" name="footer-label-15">
            <a:extLst xmlns:a="http://schemas.openxmlformats.org/drawingml/2006/main">
              <a:ext uri="{FF2B5EF4-FFF2-40B4-BE49-F238E27FC236}">
                <a16:creationId xmlns:a16="http://schemas.microsoft.com/office/drawing/2014/main" id="{3AE7B101-34B8-45D1-925F-91D45ED7E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198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0646F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60646F"/>
                </a:solidFill>
                <a:latin typeface="Arial"/>
                <a:ea typeface="Arial"/>
                <a:cs typeface="Arial"/>
              </a:rPr>
              <a:t>EQUIX · SWP391 TEAM</a:t>
            </a:r>
          </a:p>
        </p:txBody>
      </p:sp>
      <p:sp>
        <p:nvSpPr>
          <p:cNvPr id="9" name="footer-page-15">
            <a:extLst xmlns:a="http://schemas.openxmlformats.org/drawingml/2006/main">
              <a:ext uri="{FF2B5EF4-FFF2-40B4-BE49-F238E27FC236}">
                <a16:creationId xmlns:a16="http://schemas.microsoft.com/office/drawing/2014/main" id="{1909454A-0C3C-479B-9639-DA0F79D4F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817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60646F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0646F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89890726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2026-07-19T17:08:10.0730000Z</dcterms:created>
  <dcterms:modified xsi:type="dcterms:W3CDTF">2026-07-19T17:08:10.0730000Z</dcterms:modified>
</coreProperties>
</file>