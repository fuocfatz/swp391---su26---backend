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cf16627b1413c" /><Relationship Type="http://schemas.openxmlformats.org/officeDocument/2006/relationships/extended-properties" Target="/docProps/app.xml" Id="R002fad4efee24578" /><Relationship Type="http://schemas.openxmlformats.org/officeDocument/2006/relationships/officeDocument" Target="/ppt/presentation.xml" Id="R366d1a2a560f4a1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b0d6360c9eef4450"/>
  </p:sldMasterIdLst>
  <p:notesMasterIdLst>
    <p:notesMasterId xmlns:r="http://schemas.openxmlformats.org/officeDocument/2006/relationships" r:id="R060578b94e264972"/>
  </p:notesMasterIdLst>
  <p:sldIdLst>
    <p:sldId xmlns:r="http://schemas.openxmlformats.org/officeDocument/2006/relationships" id="256" r:id="R541d4a9fad6949ae"/>
    <p:sldId xmlns:r="http://schemas.openxmlformats.org/officeDocument/2006/relationships" id="257" r:id="Re8f6eca7acab4d49"/>
    <p:sldId xmlns:r="http://schemas.openxmlformats.org/officeDocument/2006/relationships" id="258" r:id="R5b379a26ba7c44a4"/>
    <p:sldId xmlns:r="http://schemas.openxmlformats.org/officeDocument/2006/relationships" id="259" r:id="R6eb1010e25fb4bc1"/>
    <p:sldId xmlns:r="http://schemas.openxmlformats.org/officeDocument/2006/relationships" id="260" r:id="R874c340ff5b9485c"/>
    <p:sldId xmlns:r="http://schemas.openxmlformats.org/officeDocument/2006/relationships" id="261" r:id="R220417af1b3f4f24"/>
    <p:sldId xmlns:r="http://schemas.openxmlformats.org/officeDocument/2006/relationships" id="262" r:id="R8a8aa9706e3a4604"/>
    <p:sldId xmlns:r="http://schemas.openxmlformats.org/officeDocument/2006/relationships" id="263" r:id="Rd931181035cc46e6"/>
    <p:sldId xmlns:r="http://schemas.openxmlformats.org/officeDocument/2006/relationships" id="264" r:id="Rc0d11c4dc27047c1"/>
    <p:sldId xmlns:r="http://schemas.openxmlformats.org/officeDocument/2006/relationships" id="265" r:id="R854a15477f3648d1"/>
    <p:sldId xmlns:r="http://schemas.openxmlformats.org/officeDocument/2006/relationships" id="266" r:id="Rd8b68f76341a4ebd"/>
    <p:sldId xmlns:r="http://schemas.openxmlformats.org/officeDocument/2006/relationships" id="267" r:id="R1e4cf7ec0f7b4f23"/>
    <p:sldId xmlns:r="http://schemas.openxmlformats.org/officeDocument/2006/relationships" id="268" r:id="R8c6359ce41f3436a"/>
    <p:sldId xmlns:r="http://schemas.openxmlformats.org/officeDocument/2006/relationships" id="269" r:id="R1c701114a1214b41"/>
    <p:sldId xmlns:r="http://schemas.openxmlformats.org/officeDocument/2006/relationships" id="270" r:id="R9674bd424fe34c16"/>
    <p:sldId xmlns:r="http://schemas.openxmlformats.org/officeDocument/2006/relationships" id="271" r:id="Ra639b2d0cd984558"/>
    <p:sldId xmlns:r="http://schemas.openxmlformats.org/officeDocument/2006/relationships" id="272" r:id="R9292ab57b7184cea"/>
    <p:sldId xmlns:r="http://schemas.openxmlformats.org/officeDocument/2006/relationships" id="273" r:id="Rb53470e6c9cc4109"/>
    <p:sldId xmlns:r="http://schemas.openxmlformats.org/officeDocument/2006/relationships" id="274" r:id="R5984a9e784104af8"/>
    <p:sldId xmlns:r="http://schemas.openxmlformats.org/officeDocument/2006/relationships" id="275" r:id="R9be3e59e4c7a41f5"/>
  </p:sldIdLst>
  <p:sldSz cx="18288000" cy="10287000"/>
  <p:notesSz cx="6858000" cy="9144000"/>
  <p:embeddedFontLst>
    <p:embeddedFont>
      <p:font typeface="29LT Adir Semi-Bold"/>
      <p:regular xmlns:r="http://schemas.openxmlformats.org/officeDocument/2006/relationships" r:id="R6abe8498424d4f61"/>
    </p:embeddedFont>
    <p:embeddedFont>
      <p:font typeface="Georgia"/>
      <p:regular xmlns:r="http://schemas.openxmlformats.org/officeDocument/2006/relationships" r:id="Ra216df7a7c114741"/>
      <p:bold xmlns:r="http://schemas.openxmlformats.org/officeDocument/2006/relationships" r:id="R7beee24eb5ab4ffb"/>
      <p:italic xmlns:r="http://schemas.openxmlformats.org/officeDocument/2006/relationships" r:id="Raa9180a2226c4b6d"/>
      <p:boldItalic xmlns:r="http://schemas.openxmlformats.org/officeDocument/2006/relationships" r:id="R471a88f584474ca7"/>
    </p:embeddedFont>
    <p:embeddedFont>
      <p:font typeface="Glacial Indifference Bold"/>
      <p:regular xmlns:r="http://schemas.openxmlformats.org/officeDocument/2006/relationships" r:id="Rebc61c209e09493a"/>
    </p:embeddedFont>
    <p:embeddedFont>
      <p:font typeface="Grand Cru S Bold"/>
      <p:regular xmlns:r="http://schemas.openxmlformats.org/officeDocument/2006/relationships" r:id="R158b87f9ec1d43d8"/>
    </p:embeddedFont>
    <p:embeddedFont>
      <p:font typeface="Grand Cru S Medium"/>
      <p:regular xmlns:r="http://schemas.openxmlformats.org/officeDocument/2006/relationships" r:id="R70f20c1f3e064925"/>
    </p:embeddedFont>
    <p:embeddedFont>
      <p:font typeface="Grand Cru S Ultra-Bold"/>
      <p:regular xmlns:r="http://schemas.openxmlformats.org/officeDocument/2006/relationships" r:id="R61484d36803a40de"/>
    </p:embeddedFont>
    <p:embeddedFont>
      <p:font typeface="Questrial"/>
      <p:regular xmlns:r="http://schemas.openxmlformats.org/officeDocument/2006/relationships" r:id="R3c6592b0808043c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c34eaa6e4845d1" /><Relationship Type="http://schemas.openxmlformats.org/officeDocument/2006/relationships/slideMaster" Target="/ppt/slideMasters/slideMaster1.xml" Id="Rb0d6360c9eef4450" /><Relationship Type="http://schemas.openxmlformats.org/officeDocument/2006/relationships/notesMaster" Target="/ppt/notesMasters/notesMaster1.xml" Id="R060578b94e264972" /><Relationship Type="http://schemas.openxmlformats.org/officeDocument/2006/relationships/presProps" Target="/ppt/presProps.xml" Id="Rcb862d201094428b" /><Relationship Type="http://schemas.openxmlformats.org/officeDocument/2006/relationships/viewProps" Target="/ppt/viewProps.xml" Id="R84c56ebf52c44ea3" /><Relationship Type="http://schemas.openxmlformats.org/officeDocument/2006/relationships/tableStyles" Target="/ppt/tableStyles.xml" Id="R9d62c15080c0421b" /><Relationship Type="http://schemas.openxmlformats.org/officeDocument/2006/relationships/font" Target="/ppt/fonts/font.dat" Id="R6abe8498424d4f61" /><Relationship Type="http://schemas.openxmlformats.org/officeDocument/2006/relationships/font" Target="/ppt/fonts/font2.dat" Id="Ra216df7a7c114741" /><Relationship Type="http://schemas.openxmlformats.org/officeDocument/2006/relationships/font" Target="/ppt/fonts/font3.dat" Id="R7beee24eb5ab4ffb" /><Relationship Type="http://schemas.openxmlformats.org/officeDocument/2006/relationships/font" Target="/ppt/fonts/font4.dat" Id="Raa9180a2226c4b6d" /><Relationship Type="http://schemas.openxmlformats.org/officeDocument/2006/relationships/font" Target="/ppt/fonts/font5.dat" Id="R471a88f584474ca7" /><Relationship Type="http://schemas.openxmlformats.org/officeDocument/2006/relationships/font" Target="/ppt/fonts/font6.dat" Id="Rebc61c209e09493a" /><Relationship Type="http://schemas.openxmlformats.org/officeDocument/2006/relationships/font" Target="/ppt/fonts/font7.dat" Id="R158b87f9ec1d43d8" /><Relationship Type="http://schemas.openxmlformats.org/officeDocument/2006/relationships/font" Target="/ppt/fonts/font8.dat" Id="R70f20c1f3e064925" /><Relationship Type="http://schemas.openxmlformats.org/officeDocument/2006/relationships/font" Target="/ppt/fonts/font9.dat" Id="R61484d36803a40de" /><Relationship Type="http://schemas.openxmlformats.org/officeDocument/2006/relationships/font" Target="/ppt/fonts/font10.dat" Id="R3c6592b0808043cf" /><Relationship Type="http://schemas.openxmlformats.org/officeDocument/2006/relationships/slide" Target="/ppt/slides/slide1.xml" Id="R541d4a9fad6949ae" /><Relationship Type="http://schemas.openxmlformats.org/officeDocument/2006/relationships/slide" Target="/ppt/slides/slide2.xml" Id="Re8f6eca7acab4d49" /><Relationship Type="http://schemas.openxmlformats.org/officeDocument/2006/relationships/slide" Target="/ppt/slides/slide3.xml" Id="R5b379a26ba7c44a4" /><Relationship Type="http://schemas.openxmlformats.org/officeDocument/2006/relationships/slide" Target="/ppt/slides/slide4.xml" Id="R6eb1010e25fb4bc1" /><Relationship Type="http://schemas.openxmlformats.org/officeDocument/2006/relationships/slide" Target="/ppt/slides/slide5.xml" Id="R874c340ff5b9485c" /><Relationship Type="http://schemas.openxmlformats.org/officeDocument/2006/relationships/slide" Target="/ppt/slides/slide6.xml" Id="R220417af1b3f4f24" /><Relationship Type="http://schemas.openxmlformats.org/officeDocument/2006/relationships/slide" Target="/ppt/slides/slide7.xml" Id="R8a8aa9706e3a4604" /><Relationship Type="http://schemas.openxmlformats.org/officeDocument/2006/relationships/slide" Target="/ppt/slides/slide8.xml" Id="Rd931181035cc46e6" /><Relationship Type="http://schemas.openxmlformats.org/officeDocument/2006/relationships/slide" Target="/ppt/slides/slide9.xml" Id="Rc0d11c4dc27047c1" /><Relationship Type="http://schemas.openxmlformats.org/officeDocument/2006/relationships/slide" Target="/ppt/slides/slide10.xml" Id="R854a15477f3648d1" /><Relationship Type="http://schemas.openxmlformats.org/officeDocument/2006/relationships/slide" Target="/ppt/slides/slide11.xml" Id="Rd8b68f76341a4ebd" /><Relationship Type="http://schemas.openxmlformats.org/officeDocument/2006/relationships/slide" Target="/ppt/slides/slide12.xml" Id="R1e4cf7ec0f7b4f23" /><Relationship Type="http://schemas.openxmlformats.org/officeDocument/2006/relationships/slide" Target="/ppt/slides/slide13.xml" Id="R8c6359ce41f3436a" /><Relationship Type="http://schemas.openxmlformats.org/officeDocument/2006/relationships/slide" Target="/ppt/slides/slide14.xml" Id="R1c701114a1214b41" /><Relationship Type="http://schemas.openxmlformats.org/officeDocument/2006/relationships/slide" Target="/ppt/slides/slide15.xml" Id="R9674bd424fe34c16" /><Relationship Type="http://schemas.openxmlformats.org/officeDocument/2006/relationships/slide" Target="/ppt/slides/slide16.xml" Id="Ra639b2d0cd984558" /><Relationship Type="http://schemas.openxmlformats.org/officeDocument/2006/relationships/slide" Target="/ppt/slides/slide17.xml" Id="R9292ab57b7184cea" /><Relationship Type="http://schemas.openxmlformats.org/officeDocument/2006/relationships/slide" Target="/ppt/slides/slide18.xml" Id="Rb53470e6c9cc4109" /><Relationship Type="http://schemas.openxmlformats.org/officeDocument/2006/relationships/slide" Target="/ppt/slides/slide19.xml" Id="R5984a9e784104af8" /><Relationship Type="http://schemas.openxmlformats.org/officeDocument/2006/relationships/slide" Target="/ppt/slides/slide20.xml" Id="R9be3e59e4c7a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edafbe309a4a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e600d53214ad7" /><Relationship Type="http://schemas.openxmlformats.org/officeDocument/2006/relationships/notesMaster" Target="/ppt/notesMasters/notesMaster1.xml" Id="R958392bd5c2e48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32c23e0444410" /><Relationship Type="http://schemas.openxmlformats.org/officeDocument/2006/relationships/notesMaster" Target="/ppt/notesMasters/notesMaster1.xml" Id="R4fdd930f120945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08f820c03d4111" /><Relationship Type="http://schemas.openxmlformats.org/officeDocument/2006/relationships/notesMaster" Target="/ppt/notesMasters/notesMaster1.xml" Id="Rd6beaca2d0fb41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c0a1c5f23f4bca" /><Relationship Type="http://schemas.openxmlformats.org/officeDocument/2006/relationships/notesMaster" Target="/ppt/notesMasters/notesMaster1.xml" Id="R989bbfef02a2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08bee3e86148f1" /><Relationship Type="http://schemas.openxmlformats.org/officeDocument/2006/relationships/notesMaster" Target="/ppt/notesMasters/notesMaster1.xml" Id="R46f05481704a4c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684bcb3234bfc" /><Relationship Type="http://schemas.openxmlformats.org/officeDocument/2006/relationships/notesMaster" Target="/ppt/notesMasters/notesMaster1.xml" Id="R4af01230d84a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8365fe0ebe444e" /><Relationship Type="http://schemas.openxmlformats.org/officeDocument/2006/relationships/notesMaster" Target="/ppt/notesMasters/notesMaster1.xml" Id="R99eaf5f52c9d4a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866d71b373438d" /><Relationship Type="http://schemas.openxmlformats.org/officeDocument/2006/relationships/notesMaster" Target="/ppt/notesMasters/notesMaster1.xml" Id="R89ba53c5ac4c4a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eb6b76960d4160" /><Relationship Type="http://schemas.openxmlformats.org/officeDocument/2006/relationships/notesMaster" Target="/ppt/notesMasters/notesMaster1.xml" Id="R5c0f5a997f5f41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053b5686b04cc9" /><Relationship Type="http://schemas.openxmlformats.org/officeDocument/2006/relationships/notesMaster" Target="/ppt/notesMasters/notesMaster1.xml" Id="R12d99b9902614f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d98c526ab14586" /><Relationship Type="http://schemas.openxmlformats.org/officeDocument/2006/relationships/notesMaster" Target="/ppt/notesMasters/notesMaster1.xml" Id="Rab9b7447c14043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ed62b4532d479b" /><Relationship Type="http://schemas.openxmlformats.org/officeDocument/2006/relationships/notesMaster" Target="/ppt/notesMasters/notesMaster1.xml" Id="Rd702de571c294a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5d05dd28e246ad" /><Relationship Type="http://schemas.openxmlformats.org/officeDocument/2006/relationships/notesMaster" Target="/ppt/notesMasters/notesMaster1.xml" Id="R9867c4aeb5504a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7aa68661704c8b" /><Relationship Type="http://schemas.openxmlformats.org/officeDocument/2006/relationships/notesMaster" Target="/ppt/notesMasters/notesMaster1.xml" Id="Rcf5cc530fa314c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eff7bd1ae4486a" /><Relationship Type="http://schemas.openxmlformats.org/officeDocument/2006/relationships/notesMaster" Target="/ppt/notesMasters/notesMaster1.xml" Id="Rbd4a58305d8841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d96287075c44f4" /><Relationship Type="http://schemas.openxmlformats.org/officeDocument/2006/relationships/notesMaster" Target="/ppt/notesMasters/notesMaster1.xml" Id="R7ce4e521c2e54e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24aaaf47654d9e" /><Relationship Type="http://schemas.openxmlformats.org/officeDocument/2006/relationships/notesMaster" Target="/ppt/notesMasters/notesMaster1.xml" Id="R68a5cc6d684244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489f89d4964538" /><Relationship Type="http://schemas.openxmlformats.org/officeDocument/2006/relationships/notesMaster" Target="/ppt/notesMasters/notesMaster1.xml" Id="R21114a5aad6044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515bbb2b7e4cf8" /><Relationship Type="http://schemas.openxmlformats.org/officeDocument/2006/relationships/notesMaster" Target="/ppt/notesMasters/notesMaster1.xml" Id="Re750c12671a041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3974c25f3614471" /><Relationship Type="http://schemas.openxmlformats.org/officeDocument/2006/relationships/notesMaster" Target="/ppt/notesMasters/notesMaster1.xml" Id="Rf76caa0d19ad43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1</a:t>
            </a:r>
          </a:p>
          <a:p xmlns:a="http://schemas.openxmlformats.org/drawingml/2006/main">
            <a:r>
              <a:t>Key message: Introduce EquiX, the five-role horse-racing management system and the SWP391 full-stack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2</a:t>
            </a:r>
          </a:p>
          <a:p xmlns:a="http://schemas.openxmlformats.org/drawingml/2006/main">
            <a:r>
              <a:t>Key message: Explain the coordination problem and why a single governed workflow is necessary.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3</a:t>
            </a:r>
          </a:p>
          <a:p xmlns:a="http://schemas.openxmlformats.org/drawingml/2006/main">
            <a:r>
              <a:t>Key message: Clarify the responsibility boundary of every role and EquiX 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4</a:t>
            </a:r>
          </a:p>
          <a:p xmlns:a="http://schemas.openxmlformats.org/drawingml/2006/main">
            <a:r>
              <a:t>Key message: Show the three-tier context and SQL Server as the only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5</a:t>
            </a:r>
          </a:p>
          <a:p xmlns:a="http://schemas.openxmlformats.org/drawingml/2006/main">
            <a:r>
              <a:t>Key message: Frame the delivery scope before entering implementation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6</a:t>
            </a:r>
          </a:p>
          <a:p xmlns:a="http://schemas.openxmlformats.org/drawingml/2006/main">
            <a:r>
              <a:t>Key message: Walk through the six business flows from onboarding to official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7</a:t>
            </a:r>
          </a:p>
          <a:p xmlns:a="http://schemas.openxmlformats.org/drawingml/2006/main">
            <a:r>
              <a:t>Key message: Explain how React, Spring Boot and SQL Server divide responsibilities.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8</a:t>
            </a:r>
          </a:p>
          <a:p xmlns:a="http://schemas.openxmlformats.org/drawingml/2006/main">
            <a:r>
              <a:t>Key message: Tell the two critical journeys: pairing/registration and officialization.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9</a:t>
            </a:r>
          </a:p>
          <a:p xmlns:a="http://schemas.openxmlformats.org/drawingml/2006/main">
            <a:r>
              <a:t>Key message: Explain JWT authentication, RBAC and role-specific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A — Slide 10</a:t>
            </a:r>
          </a:p>
          <a:p xmlns:a="http://schemas.openxmlformats.org/drawingml/2006/main">
            <a:r>
              <a:t>Key message: Demonstrate how Admin configures tournament, race and referee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11</a:t>
            </a:r>
          </a:p>
          <a:p xmlns:a="http://schemas.openxmlformats.org/drawingml/2006/main">
            <a:r>
              <a:t>Key message: Explain why invitation acceptance must precede race registration.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12</a:t>
            </a:r>
          </a:p>
          <a:p xmlns:a="http://schemas.openxmlformats.org/drawingml/2006/main">
            <a:r>
              <a:t>Key message: Describe assignment conflicts, pre-race clearance and referee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13</a:t>
            </a:r>
          </a:p>
          <a:p xmlns:a="http://schemas.openxmlformats.org/drawingml/2006/main">
            <a:r>
              <a:t>Key message: Explain 500 starting points, prediction locking and one-time gift codes.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14</a:t>
            </a:r>
          </a:p>
          <a:p xmlns:a="http://schemas.openxmlformats.org/drawingml/2006/main">
            <a:r>
              <a:t>Key message: Show live simulation, provisional results, signed report and Admin officialization.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15</a:t>
            </a:r>
          </a:p>
          <a:p xmlns:a="http://schemas.openxmlformats.org/drawingml/2006/main">
            <a:r>
              <a:t>Key message: Answer the database question: races stores configuration/state; child tables store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16</a:t>
            </a:r>
          </a:p>
          <a:p xmlns:a="http://schemas.openxmlformats.org/drawingml/2006/main">
            <a:r>
              <a:t>Key message: Explain table clusters, constraints and transaction boundaries in SQL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17</a:t>
            </a:r>
          </a:p>
          <a:p xmlns:a="http://schemas.openxmlformats.org/drawingml/2006/main">
            <a:r>
              <a:t>Key message: Walk through the exact race state machine and the revision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18</a:t>
            </a:r>
          </a:p>
          <a:p xmlns:a="http://schemas.openxmlformats.org/drawingml/2006/main">
            <a:r>
              <a:t>Key message: Present test evidence honestly and mention the known bundle optimization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19</a:t>
            </a:r>
          </a:p>
          <a:p xmlns:a="http://schemas.openxmlformats.org/drawingml/2006/main">
            <a:r>
              <a:t>Key message: Summarize why the system is traceable from UI to business rule to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B — Slide 20</a:t>
            </a:r>
          </a:p>
          <a:p xmlns:a="http://schemas.openxmlformats.org/drawingml/2006/main">
            <a:r>
              <a:t>Key message: Invite questions and hand off to the live demo when requested.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e3c32c34b47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1d744577846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4008c5a7a42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c45eaaa2a45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fe881a65e4b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1ebcca9a94f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cca10f28843b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57999b698494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fdb20fd2549c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5195acbc5449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d4f11f72f4a7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80ebdd5344dd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50B8E8-64BF-49AB-A2B4-543A220535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B79CA57-453F-4F43-B182-6F73C2ECBB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AF9374-F706-47FF-A581-F837E8E1E6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2D0E9E-6988-48C1-8E62-2893CFF2B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9E1328-C32A-4794-98D0-B9EC37C478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5308B0-82B7-436E-AAD0-0F51B4890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00C0D2-583A-43CE-B2C3-E365DFDC00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BA653D-ED7E-4BBA-8244-B42132ABC1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1A34BB-F89A-4B49-948E-27D5965271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AF106F-3E7D-4378-A7F4-B9595478A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753405-1109-45E2-8753-CAA7B95C8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D8EC112-6DFF-4F15-9B0C-83658D2A86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DC0A65-65DC-4256-AE67-920F7A4977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1CADA5-AB85-4590-AFCF-46CF7D2C69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B70922-6E7B-4A87-9AC7-57E2527C23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991CF5-333B-4539-94E9-4F8EBB446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69CFBF-1DFB-401B-8C78-44059F272F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9A4CC8D-F728-4486-B90B-67F331ABE3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3AF306D-62D2-4D33-BFE9-778387D516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3FE72CC-3D43-4BFD-81CA-01C467063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00051BC-6AFD-4591-BA84-36460282B1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743714-6482-47FC-9DCE-0699DF6F0B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4FE923-178D-488F-BF5A-937D712963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857038-8035-47DA-822F-A95448FF55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837A03E-D146-4F45-B457-341D867FB48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0A10E16-FF01-4D1F-AAC8-8A73266A5D0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750088E-E51E-429E-A2CE-78F6D8FCB3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12EC2A2-42CD-4C4D-A597-99D7C17425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8C51770-F481-4721-8F12-458A77ECB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85AA6F-02E7-4E6A-A77E-D1556C0EF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6E263D9-7155-446C-9738-BB73BC3D91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D9157D9-8A5B-49EB-903A-5A3FA68EC8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360CDE4-4257-440B-8E1F-2D7607239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A7DA4F6-E488-4321-BA85-1A05A129CD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A401C19-DED3-412D-97CD-5C6B391AD2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E57F3AF-A671-458D-A239-739B08946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DE0154-A2FA-425F-BF13-06EBC94CEA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E4F345-9B06-4478-A7EA-42943485FE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F0CE36-354C-4AC3-918F-A008E0F0B8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169AA77-C212-49C1-8CDE-23D227B7BC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D7DBE00-FAB9-41A8-9301-855836446C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16B1894-6188-476F-BFB4-94C9C81034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E545A9-8D40-4648-8BC8-6651A2F460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BB6258E-A3E8-4574-AB2B-26816A99D91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886B724-0336-498B-BF6D-1FE400C76D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9A329C2-36E0-45F8-B2D8-9B6AC088DD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1CEB7C3-1B3F-4AC5-A9C6-6B83DFA9F4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015FDF-318B-4012-AB3D-FA824316FE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E6DBF9-C341-4F3D-B900-DE88A5896A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CE43E9-38E4-4FD0-A3A7-5AD9227F91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6EA2AC-8493-4F1E-8C29-97FEEC47E2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6C1EEA-549A-4F18-B0B9-4336E37E5C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994940-D8F5-4D03-8141-A648B2995B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DC0F5A7-4EFA-4266-AFAF-B8ED0E27F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61314B4-7FA2-4D87-92BD-647C3F7AED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3D0900-70A6-44C5-AA19-D06D56AF3A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9C818F-903B-40D2-85CF-33D308208C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E4A22F-18B8-4AB2-88AE-6336192902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a62d168c74444e" /><Relationship Type="http://schemas.openxmlformats.org/officeDocument/2006/relationships/slideLayout" Target="/ppt/slideLayouts/slideLayout1.xml" Id="R09e5206b066740c9" /><Relationship Type="http://schemas.openxmlformats.org/officeDocument/2006/relationships/slideLayout" Target="/ppt/slideLayouts/slideLayout2.xml" Id="R067ee5d14ed6416b" /><Relationship Type="http://schemas.openxmlformats.org/officeDocument/2006/relationships/slideLayout" Target="/ppt/slideLayouts/slideLayout3.xml" Id="R4fa9083939a545b8" /><Relationship Type="http://schemas.openxmlformats.org/officeDocument/2006/relationships/slideLayout" Target="/ppt/slideLayouts/slideLayout4.xml" Id="Rc0d512198760463a" /><Relationship Type="http://schemas.openxmlformats.org/officeDocument/2006/relationships/slideLayout" Target="/ppt/slideLayouts/slideLayout5.xml" Id="R7a593bbd2acc4b5b" /><Relationship Type="http://schemas.openxmlformats.org/officeDocument/2006/relationships/slideLayout" Target="/ppt/slideLayouts/slideLayout6.xml" Id="R7a91ad8fe23e49b8" /><Relationship Type="http://schemas.openxmlformats.org/officeDocument/2006/relationships/slideLayout" Target="/ppt/slideLayouts/slideLayout7.xml" Id="R8ca95f29aef045da" /><Relationship Type="http://schemas.openxmlformats.org/officeDocument/2006/relationships/slideLayout" Target="/ppt/slideLayouts/slideLayout8.xml" Id="Rf257792739ec4ebf" /><Relationship Type="http://schemas.openxmlformats.org/officeDocument/2006/relationships/slideLayout" Target="/ppt/slideLayouts/slideLayout9.xml" Id="Rc1e3ac5068b54aff" /><Relationship Type="http://schemas.openxmlformats.org/officeDocument/2006/relationships/slideLayout" Target="/ppt/slideLayouts/slideLayout10.xml" Id="Rc8eb72b622e14461" /><Relationship Type="http://schemas.openxmlformats.org/officeDocument/2006/relationships/slideLayout" Target="/ppt/slideLayouts/slideLayout11.xml" Id="R9c39d3def37a4b1f" /><Relationship Type="http://schemas.openxmlformats.org/officeDocument/2006/relationships/slideLayout" Target="/ppt/slideLayouts/slideLayout12.xml" Id="R1932a24c71af47b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9386EB5-FC12-40D9-9456-9E0FED0ED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147ADC-DD35-45FF-B18E-4DC48F97B1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71665A-7B79-4A19-A738-0F2E8D71DEA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7/20/2026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EFA63E-7B53-470C-8254-CCA1749C71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8C3EAD-B4C7-4541-A3FE-7347A15FEC6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e5206b066740c9"/>
    <p:sldLayoutId xmlns:r="http://schemas.openxmlformats.org/officeDocument/2006/relationships" id="2147483650" r:id="R067ee5d14ed6416b"/>
    <p:sldLayoutId xmlns:r="http://schemas.openxmlformats.org/officeDocument/2006/relationships" id="2147483651" r:id="R4fa9083939a545b8"/>
    <p:sldLayoutId xmlns:r="http://schemas.openxmlformats.org/officeDocument/2006/relationships" id="2147483652" r:id="Rc0d512198760463a"/>
    <p:sldLayoutId xmlns:r="http://schemas.openxmlformats.org/officeDocument/2006/relationships" id="2147483653" r:id="R7a593bbd2acc4b5b"/>
    <p:sldLayoutId xmlns:r="http://schemas.openxmlformats.org/officeDocument/2006/relationships" id="2147483654" r:id="R7a91ad8fe23e49b8"/>
    <p:sldLayoutId xmlns:r="http://schemas.openxmlformats.org/officeDocument/2006/relationships" id="2147483655" r:id="R8ca95f29aef045da"/>
    <p:sldLayoutId xmlns:r="http://schemas.openxmlformats.org/officeDocument/2006/relationships" id="2147483656" r:id="Rf257792739ec4ebf"/>
    <p:sldLayoutId xmlns:r="http://schemas.openxmlformats.org/officeDocument/2006/relationships" id="2147483657" r:id="Rc1e3ac5068b54aff"/>
    <p:sldLayoutId xmlns:r="http://schemas.openxmlformats.org/officeDocument/2006/relationships" id="2147483658" r:id="Rc8eb72b622e14461"/>
    <p:sldLayoutId xmlns:r="http://schemas.openxmlformats.org/officeDocument/2006/relationships" id="2147483659" r:id="R9c39d3def37a4b1f"/>
    <p:sldLayoutId xmlns:r="http://schemas.openxmlformats.org/officeDocument/2006/relationships" id="2147483660" r:id="R1932a24c71af47b5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909f2044d74b30" /><Relationship Type="http://schemas.openxmlformats.org/officeDocument/2006/relationships/notesSlide" Target="/ppt/notesSlides/notesSlide1.xml" Id="Rfa1f9b565c5c46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3c46a0abf44c14" /><Relationship Type="http://schemas.openxmlformats.org/officeDocument/2006/relationships/image" Target="/ppt/media/image.png" Id="Rda703d5676d34c52" /><Relationship Type="http://schemas.openxmlformats.org/officeDocument/2006/relationships/notesSlide" Target="/ppt/notesSlides/notesSlide2.xml" Id="R8cd42ea8819f44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dd834a3a19439c" /><Relationship Type="http://schemas.openxmlformats.org/officeDocument/2006/relationships/notesSlide" Target="/ppt/notesSlides/notesSlide3.xml" Id="Re8dee91bbce144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9ffd6495654ffd" /><Relationship Type="http://schemas.openxmlformats.org/officeDocument/2006/relationships/image" Target="/ppt/media/image2.png" Id="Rd0d904f6b87e4db6" /><Relationship Type="http://schemas.openxmlformats.org/officeDocument/2006/relationships/image" Target="/ppt/media/image3.png" Id="Reac0afd4b3834304" /><Relationship Type="http://schemas.openxmlformats.org/officeDocument/2006/relationships/notesSlide" Target="/ppt/notesSlides/notesSlide4.xml" Id="Rb05084e03f5c49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b386797d2d40f2" /><Relationship Type="http://schemas.openxmlformats.org/officeDocument/2006/relationships/image" Target="/ppt/media/image4.png" Id="Ra9756d4223304d62" /><Relationship Type="http://schemas.openxmlformats.org/officeDocument/2006/relationships/image" Target="/ppt/media/image5.png" Id="R6c40ce62107d45fe" /><Relationship Type="http://schemas.openxmlformats.org/officeDocument/2006/relationships/image" Target="/ppt/media/image6.png" Id="Reecf266825be4a01" /><Relationship Type="http://schemas.openxmlformats.org/officeDocument/2006/relationships/notesSlide" Target="/ppt/notesSlides/notesSlide5.xml" Id="R9647ab30519442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60f710c3574e4c" /><Relationship Type="http://schemas.openxmlformats.org/officeDocument/2006/relationships/image" Target="/ppt/media/image7.png" Id="R361752c27c664994" /><Relationship Type="http://schemas.openxmlformats.org/officeDocument/2006/relationships/notesSlide" Target="/ppt/notesSlides/notesSlide6.xml" Id="Rd426cdf5eb8048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40ef3f75764be7" /><Relationship Type="http://schemas.openxmlformats.org/officeDocument/2006/relationships/image" Target="/ppt/media/image8.png" Id="R44303fb920c8478c" /><Relationship Type="http://schemas.openxmlformats.org/officeDocument/2006/relationships/image" Target="/ppt/media/image9.png" Id="Ra7beaafe5ae74638" /><Relationship Type="http://schemas.openxmlformats.org/officeDocument/2006/relationships/image" Target="/ppt/media/image10.png" Id="Rbf87beaf0d8e4660" /><Relationship Type="http://schemas.openxmlformats.org/officeDocument/2006/relationships/image" Target="/ppt/media/image11.png" Id="R829b52ba66954979" /><Relationship Type="http://schemas.openxmlformats.org/officeDocument/2006/relationships/notesSlide" Target="/ppt/notesSlides/notesSlide7.xml" Id="Rc6fed85ccb6f44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6c01d89d2f4efd" /><Relationship Type="http://schemas.openxmlformats.org/officeDocument/2006/relationships/image" Target="/ppt/media/image12.png" Id="Rad806516d98541fe" /><Relationship Type="http://schemas.openxmlformats.org/officeDocument/2006/relationships/image" Target="/ppt/media/image13.png" Id="R900c6cec440e4a96" /><Relationship Type="http://schemas.openxmlformats.org/officeDocument/2006/relationships/notesSlide" Target="/ppt/notesSlides/notesSlide8.xml" Id="Rd5c746564d2e48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beea70b09b4789" /><Relationship Type="http://schemas.openxmlformats.org/officeDocument/2006/relationships/image" Target="/ppt/media/image14.png" Id="R66bad0ec11d74c1c" /><Relationship Type="http://schemas.openxmlformats.org/officeDocument/2006/relationships/image" Target="/ppt/media/image15.png" Id="Rbe1cc06a93634dd3" /><Relationship Type="http://schemas.openxmlformats.org/officeDocument/2006/relationships/notesSlide" Target="/ppt/notesSlides/notesSlide9.xml" Id="R5e7e0a881bd849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12515fdfc74181" /><Relationship Type="http://schemas.openxmlformats.org/officeDocument/2006/relationships/image" Target="/ppt/media/image16.png" Id="R3ef6762761fd4e41" /><Relationship Type="http://schemas.openxmlformats.org/officeDocument/2006/relationships/image" Target="/ppt/media/image17.png" Id="R38671a06d6a24e7b" /><Relationship Type="http://schemas.openxmlformats.org/officeDocument/2006/relationships/notesSlide" Target="/ppt/notesSlides/notesSlide10.xml" Id="R7d405dd22cc84b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218b04cc914c48" /><Relationship Type="http://schemas.openxmlformats.org/officeDocument/2006/relationships/image" Target="/ppt/media/image18.png" Id="Ra73818edeaa3479e" /><Relationship Type="http://schemas.openxmlformats.org/officeDocument/2006/relationships/image" Target="/ppt/media/image19.png" Id="R00ba91824b9643fc" /><Relationship Type="http://schemas.openxmlformats.org/officeDocument/2006/relationships/image" Target="/ppt/media/image20.png" Id="R5b7e493d2d454271" /><Relationship Type="http://schemas.openxmlformats.org/officeDocument/2006/relationships/notesSlide" Target="/ppt/notesSlides/notesSlide11.xml" Id="Rc33a997aa6694a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0a61fa772d4037" /><Relationship Type="http://schemas.openxmlformats.org/officeDocument/2006/relationships/image" Target="/ppt/media/image21.png" Id="R534651db06e34f0d" /><Relationship Type="http://schemas.openxmlformats.org/officeDocument/2006/relationships/image" Target="/ppt/media/image22.png" Id="R3bc40e143a67476a" /><Relationship Type="http://schemas.openxmlformats.org/officeDocument/2006/relationships/notesSlide" Target="/ppt/notesSlides/notesSlide12.xml" Id="R85a2044fefd94e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146db6e26546e3" /><Relationship Type="http://schemas.openxmlformats.org/officeDocument/2006/relationships/image" Target="/ppt/media/image23.png" Id="Rc6fa4c729d584993" /><Relationship Type="http://schemas.openxmlformats.org/officeDocument/2006/relationships/image" Target="/ppt/media/image24.png" Id="R8b46b079e0d54c8e" /><Relationship Type="http://schemas.openxmlformats.org/officeDocument/2006/relationships/notesSlide" Target="/ppt/notesSlides/notesSlide13.xml" Id="Raa1c1326832d46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fba01d75744fcb" /><Relationship Type="http://schemas.openxmlformats.org/officeDocument/2006/relationships/image" Target="/ppt/media/image25.png" Id="Rc31c1849c4ce4581" /><Relationship Type="http://schemas.openxmlformats.org/officeDocument/2006/relationships/image" Target="/ppt/media/image26.png" Id="R7b3268808051468a" /><Relationship Type="http://schemas.openxmlformats.org/officeDocument/2006/relationships/notesSlide" Target="/ppt/notesSlides/notesSlide14.xml" Id="Rc820ebcb8dcd44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15f0d8cc584200" /><Relationship Type="http://schemas.openxmlformats.org/officeDocument/2006/relationships/image" Target="/ppt/media/image27.png" Id="R8ac6dba0c8594821" /><Relationship Type="http://schemas.openxmlformats.org/officeDocument/2006/relationships/image" Target="/ppt/media/image28.png" Id="Rbb9db91c5f8242b1" /><Relationship Type="http://schemas.openxmlformats.org/officeDocument/2006/relationships/notesSlide" Target="/ppt/notesSlides/notesSlide15.xml" Id="Ra51b736775d54b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c05c4d6e244383" /><Relationship Type="http://schemas.openxmlformats.org/officeDocument/2006/relationships/image" Target="/ppt/media/image29.png" Id="R4cafcd8537164937" /><Relationship Type="http://schemas.openxmlformats.org/officeDocument/2006/relationships/image" Target="/ppt/media/image30.png" Id="R73ee4b9d66364146" /><Relationship Type="http://schemas.openxmlformats.org/officeDocument/2006/relationships/notesSlide" Target="/ppt/notesSlides/notesSlide16.xml" Id="R8969400396f64d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76d4de3ae34ba6" /><Relationship Type="http://schemas.openxmlformats.org/officeDocument/2006/relationships/image" Target="/ppt/media/image31.png" Id="Rca13812607484dcc" /><Relationship Type="http://schemas.openxmlformats.org/officeDocument/2006/relationships/image" Target="/ppt/media/image32.png" Id="R84e7b89616ba4e89" /><Relationship Type="http://schemas.openxmlformats.org/officeDocument/2006/relationships/notesSlide" Target="/ppt/notesSlides/notesSlide17.xml" Id="R1951143ccf4042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fbd75346f8476c" /><Relationship Type="http://schemas.openxmlformats.org/officeDocument/2006/relationships/notesSlide" Target="/ppt/notesSlides/notesSlide18.xml" Id="R6afdd20614f34e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c1dd7916784a2e" /><Relationship Type="http://schemas.openxmlformats.org/officeDocument/2006/relationships/notesSlide" Target="/ppt/notesSlides/notesSlide19.xml" Id="R935fedfa20514b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8b17534ac9458c" /><Relationship Type="http://schemas.openxmlformats.org/officeDocument/2006/relationships/notesSlide" Target="/ppt/notesSlides/notesSlide20.xml" Id="R01b7d481e4d44e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F8B19D5-32F8-435C-8D37-7F2B69D5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A1880C7-53A4-4A19-A9AB-57C304D8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BC8528F-A2E3-4658-894F-D1E06FD3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24389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55ABB63-0333-4641-89A3-CC19389B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8898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8587A22-290C-4D60-8E52-0C42512E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468" y="2944214"/>
            <a:ext cx="10395063" cy="4881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559"/>
              </a:lnSpc>
              <a:buNone/>
            </a:pPr>
            <a:r>
              <a:rPr sz="8033" b="1">
                <a:solidFill>
                  <a:srgbClr val="261310"/>
                </a:solidFill>
                <a:latin typeface="Grand Cru S Ultra-Bold"/>
                <a:ea typeface="Grand Cru S Ultra-Bold"/>
                <a:cs typeface="Grand Cru S Ultra-Bold"/>
              </a:rPr>
              <a:t>EQUIX</a:t>
            </a:r>
          </a:p>
          <a:p xmlns:a="http://schemas.openxmlformats.org/drawingml/2006/main">
            <a:pPr algn="ctr">
              <a:lnSpc>
                <a:spcPts val="9559"/>
              </a:lnSpc>
              <a:buNone/>
            </a:pPr>
            <a:r>
              <a:rPr sz="8033" b="1">
                <a:solidFill>
                  <a:srgbClr val="261310"/>
                </a:solidFill>
                <a:latin typeface="Grand Cru S Ultra-Bold"/>
                <a:ea typeface="Grand Cru S Ultra-Bold"/>
                <a:cs typeface="Grand Cru S Ultra-Bold"/>
              </a:rPr>
              <a:t>HORSE RACING</a:t>
            </a:r>
          </a:p>
          <a:p xmlns:a="http://schemas.openxmlformats.org/drawingml/2006/main">
            <a:pPr algn="ctr">
              <a:lnSpc>
                <a:spcPts val="9559"/>
              </a:lnSpc>
              <a:buNone/>
            </a:pPr>
            <a:r>
              <a:rPr sz="8033" b="1">
                <a:solidFill>
                  <a:srgbClr val="261310"/>
                </a:solidFill>
                <a:latin typeface="Grand Cru S Ultra-Bold"/>
                <a:ea typeface="Grand Cru S Ultra-Bold"/>
                <a:cs typeface="Grand Cru S Ultra-Bold"/>
              </a:rPr>
              <a:t>MANAGEMENT SYSTEM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C3D213-1304-4603-8DEB-36840120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722" y="1527839"/>
            <a:ext cx="5513231" cy="87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43"/>
              </a:lnSpc>
              <a:buNone/>
            </a:pPr>
            <a:r>
              <a:rPr sz="2459" b="1">
                <a:solidFill>
                  <a:srgbClr val="261310"/>
                </a:solidFill>
                <a:latin typeface="Glacial Indifference Bold"/>
                <a:ea typeface="Glacial Indifference Bold"/>
                <a:cs typeface="Glacial Indifference Bold"/>
              </a:rPr>
              <a:t>SE1916 • GROUP 06 • SWP391</a:t>
            </a:r>
          </a:p>
          <a:p xmlns:a="http://schemas.openxmlformats.org/drawingml/2006/main">
            <a:pPr algn="ctr">
              <a:lnSpc>
                <a:spcPts val="3443"/>
              </a:lnSpc>
              <a:spcBef>
                <a:spcPct val="0"/>
              </a:spcBef>
              <a:buNone/>
            </a:pPr>
            <a:r>
              <a:rPr sz="2459" b="1">
                <a:solidFill>
                  <a:srgbClr val="261310"/>
                </a:solidFill>
                <a:latin typeface="Glacial Indifference Bold"/>
                <a:ea typeface="Glacial Indifference Bold"/>
                <a:cs typeface="Glacial Indifference Bold"/>
              </a:rPr>
              <a:t>FINAL PRESENTATION 2026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358E4B2-F4F1-441E-9634-3B517EEA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385" y="8326755"/>
            <a:ext cx="5513231" cy="1311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443"/>
              </a:lnSpc>
              <a:buNone/>
              <a:defRPr sz="1650" b="1">
                <a:solidFill>
                  <a:srgbClr val="154C3A"/>
                </a:solidFill>
                <a:latin typeface="Questrial"/>
                <a:ea typeface="Questrial"/>
                <a:cs typeface="Questrial"/>
              </a:defRPr>
            </a:pPr>
            <a:r>
              <a:rPr sz="1650" b="1">
                <a:solidFill>
                  <a:srgbClr val="154C3A"/>
                </a:solidFill>
                <a:latin typeface="Questrial"/>
                <a:ea typeface="Questrial"/>
                <a:cs typeface="Questrial"/>
              </a:rPr>
              <a:t>REACT 19 • SPRING BOOT 3.5 • SQL SERVER</a:t>
            </a:r>
          </a:p>
          <a:p xmlns:a="http://schemas.openxmlformats.org/drawingml/2006/main">
            <a:pPr algn="ctr">
              <a:lnSpc>
                <a:spcPts val="3443"/>
              </a:lnSpc>
              <a:buNone/>
              <a:defRPr sz="1650" b="1">
                <a:solidFill>
                  <a:srgbClr val="154C3A"/>
                </a:solidFill>
                <a:latin typeface="Questrial"/>
                <a:ea typeface="Questrial"/>
                <a:cs typeface="Questrial"/>
              </a:defRPr>
            </a:pPr>
            <a:r>
              <a:rPr sz="1650" b="1">
                <a:solidFill>
                  <a:srgbClr val="154C3A"/>
                </a:solidFill>
                <a:latin typeface="Questrial"/>
                <a:ea typeface="Questrial"/>
                <a:cs typeface="Questrial"/>
              </a:rPr>
              <a:t>Two-presenter delivery</a:t>
            </a:r>
          </a:p>
        </p:txBody>
      </p:sp>
    </p:spTree>
    <p:extLst>
      <p:ext uri="{BB962C8B-B14F-4D97-AF65-F5344CB8AC3E}">
        <p14:creationId xmlns:p14="http://schemas.microsoft.com/office/powerpoint/2010/main" val="924334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61F86A4-FFA4-4611-BB24-A5FBB567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578F71D-D638-4E66-919F-6738E60B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6DA04E1-29D4-4A67-946C-1D5B39BC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65E0AAA-C99F-475A-BF8F-C5B24618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A2A3B7-DDBB-4590-93E4-15F3027B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949" y="2259532"/>
            <a:ext cx="7047931" cy="4231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150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defRPr>
            </a:pPr>
            <a:r>
              <a:rPr sz="6150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Problem &amp;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6150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defRPr>
            </a:pPr>
            <a:r>
              <a:rPr sz="6150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Scope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25D05AD-8ACD-4AE3-AB7D-05B8D38F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05" y="5086350"/>
            <a:ext cx="7049575" cy="45625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0"/>
              </a:lnSpc>
              <a:buNone/>
            </a:pPr>
            <a:r>
              <a:rPr sz="2621">
                <a:solidFill>
                  <a:srgbClr val="261310"/>
                </a:solidFill>
                <a:latin typeface="Questrial"/>
                <a:ea typeface="Questrial"/>
                <a:cs typeface="Questrial"/>
              </a:rPr>
              <a:t>EquiX replaces fragmented race coordination with one governed workflow for accounts, horses, jockeys, tournaments, registrations, referee operations, results and spectator engagement.</a:t>
            </a:r>
          </a:p>
          <a:p xmlns:a="http://schemas.openxmlformats.org/drawingml/2006/main">
            <a:pPr algn="l">
              <a:lnSpc>
                <a:spcPts val="3670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3670"/>
              </a:lnSpc>
              <a:buNone/>
            </a:pPr>
            <a:r>
              <a:rPr sz="2621">
                <a:solidFill>
                  <a:srgbClr val="261310"/>
                </a:solidFill>
                <a:latin typeface="Questrial"/>
                <a:ea typeface="Questrial"/>
                <a:cs typeface="Questrial"/>
              </a:rPr>
              <a:t>The SWP391 scope covers a complete academic full-stack product: requirements, architecture, implementation, database integrity, testing and a repeatable demonstration flow.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03d5676d34c52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16831" y="4525982"/>
            <a:ext cx="7229445" cy="47323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1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AC8BA45-94E8-46EB-85D9-09BBF739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3CDD63D-C7A0-4038-961D-1E4DC3FF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86BA511-E752-4398-8B62-7EDEE212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DFE7ED2-3392-44D8-A521-5657A20A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8D76894-17B7-4B52-AF00-14C903A4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47750"/>
            <a:ext cx="10647599" cy="1256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739"/>
              </a:lnSpc>
              <a:buNone/>
            </a:pPr>
            <a:r>
              <a:rPr sz="8324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System Actors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289A6C0-AF2E-48B2-95E0-486CF762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2888597"/>
            <a:ext cx="1710664" cy="1028340"/>
          </a:xfrm>
          <a:custGeom xmlns:a="http://schemas.openxmlformats.org/drawingml/2006/main">
            <a:rect l="l" t="t" r="r" b="b"/>
            <a:pathLst>
              <a:path w="1352109" h="812800">
                <a:moveTo>
                  <a:pt x="127269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733382"/>
                </a:lnTo>
                <a:cubicBezTo>
                  <a:pt x="43699" y="733382"/>
                  <a:pt x="79418" y="768721"/>
                  <a:pt x="79418" y="812800"/>
                </a:cubicBezTo>
                <a:lnTo>
                  <a:pt x="1272691" y="812800"/>
                </a:lnTo>
                <a:cubicBezTo>
                  <a:pt x="1272691" y="769101"/>
                  <a:pt x="1308030" y="733382"/>
                  <a:pt x="1352109" y="733382"/>
                </a:cubicBezTo>
                <a:lnTo>
                  <a:pt x="1352109" y="79418"/>
                </a:lnTo>
                <a:cubicBezTo>
                  <a:pt x="1308410" y="79418"/>
                  <a:pt x="1272691" y="44079"/>
                  <a:pt x="1272691" y="0"/>
                </a:cubicBezTo>
                <a:close/>
              </a:path>
            </a:pathLst>
          </a:custGeom>
          <a:solidFill xmlns:a="http://schemas.openxmlformats.org/drawingml/2006/main">
            <a:srgbClr val="76AB9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838DDD-D478-4C04-8954-D308B892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903" y="2876547"/>
            <a:ext cx="1614257" cy="992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4DCB66-7899-4ECE-AB7E-484CCBC4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8886" y="2965411"/>
            <a:ext cx="1660478" cy="1955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699"/>
              </a:lnSpc>
              <a:spcBef>
                <a:spcPct val="0"/>
              </a:spcBef>
              <a:buNone/>
              <a:defRPr sz="3900"/>
            </a:pPr>
            <a:r>
              <a:rPr sz="3900" b="1">
                <a:solidFill>
                  <a:srgbClr val="261310"/>
                </a:solidFill>
                <a:latin typeface="29LT Adir Semi-Bold"/>
                <a:ea typeface="29LT Adir Semi-Bold"/>
                <a:cs typeface="29LT Adir Semi-Bold"/>
              </a:rPr>
              <a:t>Admin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3196862-4B0A-45D8-866B-5631195A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9664" y="2781897"/>
            <a:ext cx="7269359" cy="11917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  <a:defRPr sz="1950"/>
            </a:pPr>
            <a:r>
              <a:rPr sz="1950">
                <a:solidFill>
                  <a:srgbClr val="261310"/>
                </a:solidFill>
                <a:latin typeface="Questrial"/>
                <a:ea typeface="Questrial"/>
                <a:cs typeface="Questrial"/>
              </a:rPr>
              <a:t>Governs accounts, tournaments and races; assigns referees, approves registrations and declares official results.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B94631B-824B-4500-A3CE-6C8E4A37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4554201"/>
            <a:ext cx="1658961" cy="1028340"/>
          </a:xfrm>
          <a:custGeom xmlns:a="http://schemas.openxmlformats.org/drawingml/2006/main">
            <a:rect l="l" t="t" r="r" b="b"/>
            <a:pathLst>
              <a:path w="1311244" h="812800">
                <a:moveTo>
                  <a:pt x="1231825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733382"/>
                </a:lnTo>
                <a:cubicBezTo>
                  <a:pt x="43699" y="733382"/>
                  <a:pt x="79418" y="768721"/>
                  <a:pt x="79418" y="812800"/>
                </a:cubicBezTo>
                <a:lnTo>
                  <a:pt x="1231825" y="812800"/>
                </a:lnTo>
                <a:cubicBezTo>
                  <a:pt x="1231825" y="769101"/>
                  <a:pt x="1267164" y="733382"/>
                  <a:pt x="1311244" y="733382"/>
                </a:cubicBezTo>
                <a:lnTo>
                  <a:pt x="1311244" y="79418"/>
                </a:lnTo>
                <a:cubicBezTo>
                  <a:pt x="1267544" y="79418"/>
                  <a:pt x="1231825" y="44079"/>
                  <a:pt x="1231825" y="0"/>
                </a:cubicBezTo>
                <a:close/>
              </a:path>
            </a:pathLst>
          </a:custGeom>
          <a:solidFill xmlns:a="http://schemas.openxmlformats.org/drawingml/2006/main">
            <a:srgbClr val="76AB9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A1BFD4-E2D0-4583-BF7C-3FBF681A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903" y="4542151"/>
            <a:ext cx="1562554" cy="992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9FCAABB-BA6E-4B79-9610-AB28C745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7369" y="4631015"/>
            <a:ext cx="1610292" cy="3911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69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261310"/>
                </a:solidFill>
                <a:latin typeface="29LT Adir Semi-Bold"/>
                <a:ea typeface="29LT Adir Semi-Bold"/>
                <a:cs typeface="29LT Adir Semi-Bold"/>
              </a:rPr>
              <a:t>Horse Owner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FC78FE-E337-4755-998D-338B4DDA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04325" y="4447501"/>
            <a:ext cx="7049653" cy="11917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  <a:defRPr sz="1950"/>
            </a:pPr>
            <a:r>
              <a:rPr sz="1950">
                <a:solidFill>
                  <a:srgbClr val="261310"/>
                </a:solidFill>
                <a:latin typeface="Questrial"/>
                <a:ea typeface="Questrial"/>
                <a:cs typeface="Questrial"/>
              </a:rPr>
              <a:t>Creates horses, invites jockeys, manages pairings and registers eligible horse–jockey pairs into open races.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2A8B270E-F434-4E5A-B185-03604B0E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6219807"/>
            <a:ext cx="1658961" cy="1028340"/>
          </a:xfrm>
          <a:custGeom xmlns:a="http://schemas.openxmlformats.org/drawingml/2006/main">
            <a:rect l="l" t="t" r="r" b="b"/>
            <a:pathLst>
              <a:path w="1311244" h="812800">
                <a:moveTo>
                  <a:pt x="1231825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733382"/>
                </a:lnTo>
                <a:cubicBezTo>
                  <a:pt x="43699" y="733382"/>
                  <a:pt x="79418" y="768721"/>
                  <a:pt x="79418" y="812800"/>
                </a:cubicBezTo>
                <a:lnTo>
                  <a:pt x="1231825" y="812800"/>
                </a:lnTo>
                <a:cubicBezTo>
                  <a:pt x="1231825" y="769101"/>
                  <a:pt x="1267164" y="733382"/>
                  <a:pt x="1311244" y="733382"/>
                </a:cubicBezTo>
                <a:lnTo>
                  <a:pt x="1311244" y="79418"/>
                </a:lnTo>
                <a:cubicBezTo>
                  <a:pt x="1267544" y="79418"/>
                  <a:pt x="1231825" y="44079"/>
                  <a:pt x="1231825" y="0"/>
                </a:cubicBezTo>
                <a:close/>
              </a:path>
            </a:pathLst>
          </a:custGeom>
          <a:solidFill xmlns:a="http://schemas.openxmlformats.org/drawingml/2006/main">
            <a:srgbClr val="76AB9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16350698-9170-42E7-81F8-8760FB8A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903" y="6207757"/>
            <a:ext cx="1562554" cy="992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43158FD7-1FE1-4319-B2B1-1FB82C5D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7369" y="6296620"/>
            <a:ext cx="1610292" cy="1742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860"/>
              </a:lnSpc>
              <a:spcBef>
                <a:spcPct val="0"/>
              </a:spcBef>
              <a:buNone/>
              <a:defRPr sz="3750"/>
            </a:pPr>
            <a:r>
              <a:rPr sz="3750" b="1">
                <a:solidFill>
                  <a:srgbClr val="261310"/>
                </a:solidFill>
                <a:latin typeface="29LT Adir Semi-Bold"/>
                <a:ea typeface="29LT Adir Semi-Bold"/>
                <a:cs typeface="29LT Adir Semi-Bold"/>
              </a:rPr>
              <a:t>Jockey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9ADC67B-EB9C-43A9-A191-97A86666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04325" y="6513156"/>
            <a:ext cx="7049653" cy="817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  <a:defRPr sz="1950"/>
            </a:pPr>
            <a:r>
              <a:rPr sz="1950">
                <a:solidFill>
                  <a:srgbClr val="261310"/>
                </a:solidFill>
                <a:latin typeface="Questrial"/>
                <a:ea typeface="Questrial"/>
                <a:cs typeface="Questrial"/>
              </a:rPr>
              <a:t>Reviews invitations, accepts or declines pairings, and follows assigned horses and race schedules.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F4932FD-F6ED-4AFA-B9F9-54C4AD5D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3980" y="2831447"/>
            <a:ext cx="2109603" cy="1028340"/>
          </a:xfrm>
          <a:custGeom xmlns:a="http://schemas.openxmlformats.org/drawingml/2006/main">
            <a:rect l="l" t="t" r="r" b="b"/>
            <a:pathLst>
              <a:path w="1667430" h="812800">
                <a:moveTo>
                  <a:pt x="1588012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733382"/>
                </a:lnTo>
                <a:cubicBezTo>
                  <a:pt x="43699" y="733382"/>
                  <a:pt x="79418" y="768721"/>
                  <a:pt x="79418" y="812800"/>
                </a:cubicBezTo>
                <a:lnTo>
                  <a:pt x="1588012" y="812800"/>
                </a:lnTo>
                <a:cubicBezTo>
                  <a:pt x="1588012" y="769101"/>
                  <a:pt x="1623351" y="733382"/>
                  <a:pt x="1667430" y="733382"/>
                </a:cubicBezTo>
                <a:lnTo>
                  <a:pt x="1667430" y="79418"/>
                </a:lnTo>
                <a:cubicBezTo>
                  <a:pt x="1623731" y="79418"/>
                  <a:pt x="1588012" y="44079"/>
                  <a:pt x="1588012" y="0"/>
                </a:cubicBezTo>
                <a:close/>
              </a:path>
            </a:pathLst>
          </a:custGeom>
          <a:solidFill xmlns:a="http://schemas.openxmlformats.org/drawingml/2006/main">
            <a:srgbClr val="76AB9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620C319-0E44-4721-A87F-49D03DE4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2183" y="2819397"/>
            <a:ext cx="2013196" cy="992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4FCEE83D-B0AD-456B-9691-2B44396A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96556" y="2908261"/>
            <a:ext cx="2255588" cy="977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699"/>
              </a:lnSpc>
              <a:spcBef>
                <a:spcPct val="0"/>
              </a:spcBef>
              <a:buNone/>
              <a:defRPr sz="3750"/>
            </a:pPr>
            <a:r>
              <a:rPr sz="3750" b="1">
                <a:solidFill>
                  <a:srgbClr val="261310"/>
                </a:solidFill>
                <a:latin typeface="29LT Adir Semi-Bold"/>
                <a:ea typeface="29LT Adir Semi-Bold"/>
                <a:cs typeface="29LT Adir Semi-Bold"/>
              </a:rPr>
              <a:t>Referee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E00770F4-25E8-4735-AD14-40B66C6F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9952" y="2724747"/>
            <a:ext cx="5666142" cy="1226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  <a:defRPr sz="1950"/>
            </a:pPr>
            <a:r>
              <a:rPr sz="1950">
                <a:solidFill>
                  <a:srgbClr val="261310"/>
                </a:solidFill>
                <a:latin typeface="Questrial"/>
                <a:ea typeface="Questrial"/>
                <a:cs typeface="Questrial"/>
              </a:rPr>
              <a:t>Clears registrations, starts and completes races, records incidents and submits the signed race report.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B6CD0FF-4376-456C-A43E-8B789BC8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3980" y="4582549"/>
            <a:ext cx="2109603" cy="1028340"/>
          </a:xfrm>
          <a:custGeom xmlns:a="http://schemas.openxmlformats.org/drawingml/2006/main">
            <a:rect l="l" t="t" r="r" b="b"/>
            <a:pathLst>
              <a:path w="1667430" h="812800">
                <a:moveTo>
                  <a:pt x="1588012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733382"/>
                </a:lnTo>
                <a:cubicBezTo>
                  <a:pt x="43699" y="733382"/>
                  <a:pt x="79418" y="768721"/>
                  <a:pt x="79418" y="812800"/>
                </a:cubicBezTo>
                <a:lnTo>
                  <a:pt x="1588012" y="812800"/>
                </a:lnTo>
                <a:cubicBezTo>
                  <a:pt x="1588012" y="769101"/>
                  <a:pt x="1623351" y="733382"/>
                  <a:pt x="1667430" y="733382"/>
                </a:cubicBezTo>
                <a:lnTo>
                  <a:pt x="1667430" y="79418"/>
                </a:lnTo>
                <a:cubicBezTo>
                  <a:pt x="1623731" y="79418"/>
                  <a:pt x="1588012" y="44079"/>
                  <a:pt x="1588012" y="0"/>
                </a:cubicBezTo>
                <a:close/>
              </a:path>
            </a:pathLst>
          </a:custGeom>
          <a:solidFill xmlns:a="http://schemas.openxmlformats.org/drawingml/2006/main">
            <a:srgbClr val="76AB9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9D262CE-9E35-4A5A-AD1D-54E48887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2183" y="4570499"/>
            <a:ext cx="2013196" cy="992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906BD731-DEAE-4062-9B9A-7C238D25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96556" y="4659363"/>
            <a:ext cx="2255588" cy="1955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69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261310"/>
                </a:solidFill>
                <a:latin typeface="29LT Adir Semi-Bold"/>
                <a:ea typeface="29LT Adir Semi-Bold"/>
                <a:cs typeface="29LT Adir Semi-Bold"/>
              </a:rPr>
              <a:t>EquiX Core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3045B8EE-6BF8-43FF-870E-D74448A4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9952" y="4475849"/>
            <a:ext cx="5666142" cy="1226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  <a:defRPr sz="1950"/>
            </a:pPr>
            <a:r>
              <a:rPr sz="1950">
                <a:solidFill>
                  <a:srgbClr val="261310"/>
                </a:solidFill>
                <a:latin typeface="Questrial"/>
                <a:ea typeface="Questrial"/>
                <a:cs typeface="Questrial"/>
              </a:rPr>
              <a:t>Enforces JWT/RBAC, state transitions, transactions, notifications, point settlement and audit history.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E366400-7D18-4FEE-A174-4609E1B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3980" y="6333879"/>
            <a:ext cx="2109603" cy="1028340"/>
          </a:xfrm>
          <a:custGeom xmlns:a="http://schemas.openxmlformats.org/drawingml/2006/main">
            <a:rect l="l" t="t" r="r" b="b"/>
            <a:pathLst>
              <a:path w="1667430" h="812800">
                <a:moveTo>
                  <a:pt x="1588012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733382"/>
                </a:lnTo>
                <a:cubicBezTo>
                  <a:pt x="43699" y="733382"/>
                  <a:pt x="79418" y="768721"/>
                  <a:pt x="79418" y="812800"/>
                </a:cubicBezTo>
                <a:lnTo>
                  <a:pt x="1588012" y="812800"/>
                </a:lnTo>
                <a:cubicBezTo>
                  <a:pt x="1588012" y="769101"/>
                  <a:pt x="1623351" y="733382"/>
                  <a:pt x="1667430" y="733382"/>
                </a:cubicBezTo>
                <a:lnTo>
                  <a:pt x="1667430" y="79418"/>
                </a:lnTo>
                <a:cubicBezTo>
                  <a:pt x="1623731" y="79418"/>
                  <a:pt x="1588012" y="44079"/>
                  <a:pt x="1588012" y="0"/>
                </a:cubicBezTo>
                <a:close/>
              </a:path>
            </a:pathLst>
          </a:custGeom>
          <a:solidFill xmlns:a="http://schemas.openxmlformats.org/drawingml/2006/main">
            <a:srgbClr val="76AB9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8D32A0D-A5CD-4751-B4A7-15F49303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2183" y="6321829"/>
            <a:ext cx="2013196" cy="992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181ECF-E26F-4EA3-8A8B-7B933C25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87933" y="6421965"/>
            <a:ext cx="2441697" cy="835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580"/>
              </a:lnSpc>
              <a:spcBef>
                <a:spcPct val="0"/>
              </a:spcBef>
              <a:buNone/>
              <a:defRPr sz="3225"/>
            </a:pPr>
            <a:r>
              <a:rPr sz="3225" b="1">
                <a:solidFill>
                  <a:srgbClr val="261310"/>
                </a:solidFill>
                <a:latin typeface="29LT Adir Semi-Bold"/>
                <a:ea typeface="29LT Adir Semi-Bold"/>
                <a:cs typeface="29LT Adir Semi-Bold"/>
              </a:rPr>
              <a:t>Spectator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6834AC2E-E4EE-402C-95D1-3EE23D82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9952" y="6227179"/>
            <a:ext cx="5666142" cy="1226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  <a:defRPr sz="1950"/>
            </a:pPr>
            <a:r>
              <a:rPr sz="1950">
                <a:solidFill>
                  <a:srgbClr val="261310"/>
                </a:solidFill>
                <a:latin typeface="Questrial"/>
                <a:ea typeface="Questrial"/>
                <a:cs typeface="Questrial"/>
              </a:rPr>
              <a:t>Browses races, places one point-based prediction per race, receives rewards and redeems one-time gift codes.</a:t>
            </a:r>
          </a:p>
        </p:txBody>
      </p:sp>
    </p:spTree>
    <p:extLst>
      <p:ext uri="{BB962C8B-B14F-4D97-AF65-F5344CB8AC3E}">
        <p14:creationId xmlns:p14="http://schemas.microsoft.com/office/powerpoint/2010/main" val="1292821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311A8DE-3425-4414-8833-47528BA7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5EDDD8A-6892-4A73-9FC6-3A00F4B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67590D2-4EA9-4BF6-B216-2504EB1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C30F5-55C6-417B-9EFB-A7F90F11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5962AE8-1314-4DDF-971F-C8C5C326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99" y="786359"/>
            <a:ext cx="10849005" cy="1274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932"/>
              </a:lnSpc>
              <a:buNone/>
            </a:pPr>
            <a:r>
              <a:rPr sz="8346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System Context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904f6b87e4db6"/>
          <a:srcRect xmlns:a="http://schemas.openxmlformats.org/drawingml/2006/main" l="0" t="220" r="0" b="2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88904" y="1044273"/>
            <a:ext cx="5570482" cy="758422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0afd4b3834304"/>
          <a:srcRect xmlns:a="http://schemas.openxmlformats.org/drawingml/2006/main" l="0" t="22" r="0" b="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3477" y="2060609"/>
            <a:ext cx="11966965" cy="76665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20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D6BF868-25ED-4A9E-A07F-99E7BCB0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2BAD5B0-715B-4333-BEE8-C6A5F10A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A224704-264D-464B-9742-8618CD3E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2FA3ED3-E1E1-4EFA-9339-C0B8BA4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58001AA-A381-4B16-BEEE-01AF3EF6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23" y="572708"/>
            <a:ext cx="10871429" cy="1391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958"/>
              </a:lnSpc>
              <a:buNone/>
            </a:pPr>
            <a:r>
              <a:rPr sz="8697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SWP Delivery Scope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56d4223304d62"/>
          <a:srcRect xmlns:a="http://schemas.openxmlformats.org/drawingml/2006/main" l="59" t="0" r="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595" y="2098071"/>
            <a:ext cx="4038246" cy="253641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0ce62107d45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4250992"/>
            <a:ext cx="3731950" cy="2626187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f266825be4a01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98944" y="2693820"/>
            <a:ext cx="10716781" cy="52043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12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05AEFE1-3D36-46AA-A422-EC98CA77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86B5025-77EC-4322-817D-AF12A954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197DB94-7413-4CC9-AB4E-0D41B35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B928F31-2EF9-4889-8AC1-BE6FC993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7E13C45-5619-4D12-BA9E-435B299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57250"/>
            <a:ext cx="12557742" cy="15645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319"/>
              </a:lnSpc>
              <a:spcBef>
                <a:spcPct val="0"/>
              </a:spcBef>
              <a:buNone/>
            </a:pPr>
            <a:r>
              <a:rPr sz="8799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Six Core Business Flows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752c27c664994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373631"/>
            <a:ext cx="16230600" cy="69791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3D70FAA-7997-4E37-9D9E-EF5029E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2C4DEF4-3470-4676-85A4-9DB5BCA2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8F96636-B86F-49CA-9804-2774342C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16763FE-46B2-4661-A9CA-FA25FC06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03fb920c8478c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809288"/>
            <a:ext cx="6759739" cy="4334212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eaafe5ae74638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3949" y="735651"/>
            <a:ext cx="6724680" cy="4407849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7beaf0d8e4660"/>
          <a:srcRect xmlns:a="http://schemas.openxmlformats.org/drawingml/2006/main" l="57" t="0" r="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5318801"/>
            <a:ext cx="6703519" cy="4318439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b52ba66954979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3949" y="5606948"/>
            <a:ext cx="6724680" cy="37689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07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FDE94F7-BC78-439D-954F-D7D6B356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6D12796-494B-4A32-8831-1771C56C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B1F9F2D3-8228-4F10-A3D8-53A70D5D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7C2E5B9-5D15-431A-94BB-DF232075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06516d98541fe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037" y="809710"/>
            <a:ext cx="7833120" cy="5039342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c6cec440e4a96"/>
          <a:srcRect xmlns:a="http://schemas.openxmlformats.org/drawingml/2006/main" l="52" t="0" r="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3289" y="3758498"/>
            <a:ext cx="8816434" cy="58424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38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A2EB139-DF70-405A-8330-B43D095A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F18EC27-D4E4-4470-BFA8-E8FB3791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72836E8-7471-421F-9630-1EB24139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5A43CEF-6B6F-40AB-A702-A3855E4E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474851-94CA-4591-AC2C-0003D020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69" y="359760"/>
            <a:ext cx="15084968" cy="1186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339"/>
              </a:lnSpc>
              <a:spcBef>
                <a:spcPct val="0"/>
              </a:spcBef>
              <a:buNone/>
            </a:pPr>
            <a:r>
              <a:rPr sz="6671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Account, Identity &amp; RBAC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ad0ec11d74c1c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471" y="2071091"/>
            <a:ext cx="8290529" cy="665758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cc06a93634dd3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0571" y="2880888"/>
            <a:ext cx="8169604" cy="67397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56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898BCA0-D87A-4D7D-9928-EEC200C0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233EFBB-E582-4FC8-87E6-B92EE4F4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42F39FF-870B-42C1-AF9A-29F45684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34746A9-E51B-4197-BCDA-7E927BA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44A8C1-CC59-46EC-9818-A143C184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69" y="359760"/>
            <a:ext cx="15084968" cy="2339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339"/>
              </a:lnSpc>
              <a:buNone/>
            </a:pPr>
            <a:r>
              <a:rPr sz="6671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Tournament &amp; Race Setup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6762761fd4e41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29855" y="1596052"/>
            <a:ext cx="5455507" cy="8180154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71a06d6a24e7b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0585" y="2159231"/>
            <a:ext cx="7542664" cy="74181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14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E42F198-26EA-4C47-9B64-753DA319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0E9A0D3-3EE4-4EF7-A506-31F0EC8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4798F31-2637-4124-BC45-2E4ACE5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6E3151A-F320-49D4-94B3-8F2A27B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B7546A-E103-434E-BBAB-AAB0AC94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69" y="369285"/>
            <a:ext cx="15651399" cy="1043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19"/>
              </a:lnSpc>
              <a:spcBef>
                <a:spcPct val="0"/>
              </a:spcBef>
              <a:buNone/>
            </a:pPr>
            <a:r>
              <a:rPr sz="5870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Horse–Jockey Pairing &amp; Registration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818edeaa3479e"/>
          <a:srcRect xmlns:a="http://schemas.openxmlformats.org/drawingml/2006/main" l="0" t="51" r="0" b="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369" y="1640511"/>
            <a:ext cx="4070172" cy="761778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a91824b9643fc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5252" y="1973466"/>
            <a:ext cx="4939847" cy="7284834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e493d2d454271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90915" y="1391293"/>
            <a:ext cx="5245088" cy="8177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741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FF42410-869D-43B2-BCF1-6EBA317D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F80559E-6027-429A-8650-DE5304CB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AE166A5-1D30-40F4-864C-841BF3A7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7F6FD3B-DC15-4D04-82F2-341F63BD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796977-EBD7-4FBA-9B90-5770D160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69" y="369285"/>
            <a:ext cx="15651399" cy="1043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19"/>
              </a:lnSpc>
              <a:spcBef>
                <a:spcPct val="0"/>
              </a:spcBef>
              <a:buNone/>
            </a:pPr>
            <a:r>
              <a:rPr sz="5870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Referee Assignment &amp; Controls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651db06e34f0d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1687649"/>
            <a:ext cx="5344637" cy="799516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40e143a67476a"/>
          <a:srcRect xmlns:a="http://schemas.openxmlformats.org/drawingml/2006/main" l="17" t="0" r="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8193" y="2372361"/>
            <a:ext cx="9079140" cy="71476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134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73367A1-1C4E-4B4A-AFFF-ED4818BB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45FE04A-73A1-40E6-851A-802A0FDF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718A4A3-7BD7-49CB-B4FD-5E975512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49F8880-C319-410C-973F-C39BC729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3A84AAD-AF52-44AA-A626-DD030E82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69" y="369285"/>
            <a:ext cx="15651399" cy="1043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19"/>
              </a:lnSpc>
              <a:spcBef>
                <a:spcPct val="0"/>
              </a:spcBef>
              <a:buNone/>
            </a:pPr>
            <a:r>
              <a:rPr sz="5870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Prediction, Point &amp; Reward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a4c729d584993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369" y="1645800"/>
            <a:ext cx="6503621" cy="804092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6b079e0d54c8e"/>
          <a:srcRect xmlns:a="http://schemas.openxmlformats.org/drawingml/2006/main" l="0" t="4" r="0" b="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8162" y="1645800"/>
            <a:ext cx="6128523" cy="7938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08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5B37588-E059-49E1-A221-2F4CF75F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11A2449-AC16-4B6B-934B-1F2C8B19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225139D2-79A1-4EE4-9741-F7BBF121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608F873-FA06-422A-B562-212B2997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949B34-7F3E-4819-87BA-5546D888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69" y="369285"/>
            <a:ext cx="15651399" cy="1043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19"/>
              </a:lnSpc>
              <a:spcBef>
                <a:spcPct val="0"/>
              </a:spcBef>
              <a:buNone/>
            </a:pPr>
            <a:r>
              <a:rPr sz="5870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Live Race &amp; Official Result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c1849c4ce4581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1463560"/>
            <a:ext cx="7210716" cy="8281952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268808051468a"/>
          <a:srcRect xmlns:a="http://schemas.openxmlformats.org/drawingml/2006/main" l="17" t="0" r="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3069" y="2274481"/>
            <a:ext cx="8163828" cy="74710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3716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72E1A6E-F542-405A-8340-07644552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F7019FE-6E69-46FE-8CFB-FFA33F91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B245720A-84A1-4E75-AF90-F2BFDDEC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C2F2FFF-BC92-4AA6-A378-779AB1E1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EABF721-E229-4C4B-B8BD-2F39658E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3666"/>
            <a:ext cx="15533969" cy="15251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009"/>
              </a:lnSpc>
              <a:spcBef>
                <a:spcPct val="0"/>
              </a:spcBef>
              <a:buNone/>
            </a:pPr>
            <a:r>
              <a:rPr sz="8578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Conceptual Data Model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6dba0c8594821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107572"/>
            <a:ext cx="10830306" cy="735107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db91c5f8242b1"/>
          <a:srcRect xmlns:a="http://schemas.openxmlformats.org/drawingml/2006/main" l="0" t="9" r="0" b="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15822" y="2540413"/>
            <a:ext cx="4543478" cy="64853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171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D939534-02D4-4AD2-A0B1-5A122FB5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C59DB93-020C-47B1-9136-0124BF84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4CFCAEA-13F0-4815-8832-CCF9A2FA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51CA044-B562-4802-9BB5-A4B5DA78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578A1E9-CDD8-4F3E-855E-B733635B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3666"/>
            <a:ext cx="15533969" cy="30079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009"/>
              </a:lnSpc>
              <a:spcBef>
                <a:spcPct val="0"/>
              </a:spcBef>
              <a:buNone/>
            </a:pPr>
            <a:r>
              <a:rPr sz="8578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Logical SQL Server Model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fcd8537164937"/>
          <a:srcRect xmlns:a="http://schemas.openxmlformats.org/drawingml/2006/main" l="0" t="19" r="0" b="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1948" y="2213344"/>
            <a:ext cx="8724335" cy="7235746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e4b9d66364146"/>
          <a:srcRect xmlns:a="http://schemas.openxmlformats.org/drawingml/2006/main" l="35" t="0" r="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4829" y="3028952"/>
            <a:ext cx="7235880" cy="6145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530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C32A37F-86B2-48F0-91F5-CB8FED90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9480D54-C072-4C19-9A7C-5F940842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12725D1-2697-448F-8DEA-7A3AC7F5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241C880-2970-44E2-B244-3299D85F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3DDB7C-241E-4618-B2B5-48761694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19175"/>
            <a:ext cx="13924335" cy="10189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023"/>
              </a:lnSpc>
              <a:buNone/>
            </a:pPr>
            <a:r>
              <a:rPr sz="6522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Race Lifecycle State Machine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3812607484dcc"/>
          <a:srcRect xmlns:a="http://schemas.openxmlformats.org/drawingml/2006/main" l="236" t="0" r="2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8752" y="2349185"/>
            <a:ext cx="13084230" cy="956784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7b89616ba4e89"/>
          <a:srcRect xmlns:a="http://schemas.openxmlformats.org/drawingml/2006/main" l="0" t="2822" r="0" b="2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0656" y="3822811"/>
            <a:ext cx="15066688" cy="36394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232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44A47BF-1332-09EE-3510-146FDEEE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2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DB0C3FA-7624-9C89-68E8-63160B0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7" y="343786"/>
            <a:ext cx="17116022" cy="94190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C154814-AA50-69E0-883A-2937878A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474" y="671380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B295002-C564-AD41-56AE-7C98F946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8" y="483873"/>
            <a:ext cx="16843337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6" name="Shape 3">
            <a:extLst xmlns:a="http://schemas.openxmlformats.org/drawingml/2006/main">
              <a:ext uri="{FF2B5EF4-FFF2-40B4-BE49-F238E27FC236}">
                <a16:creationId xmlns:a16="http://schemas.microsoft.com/office/drawing/2014/main" id="{8140DB44-B605-E551-4955-AEAA19AA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36242"/>
            <a:ext cx="16306800" cy="1254720"/>
          </a:xfrm>
          <a:prstGeom xmlns:a="http://schemas.openxmlformats.org/drawingml/2006/main" prst="roundRect">
            <a:avLst>
              <a:gd name="adj" fmla="val 911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4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FA6196B1-2F6D-BA73-E6E7-2EEF6D0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2890242"/>
            <a:ext cx="6096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B4832E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20" name="Text 5">
            <a:extLst xmlns:a="http://schemas.openxmlformats.org/drawingml/2006/main">
              <a:ext uri="{FF2B5EF4-FFF2-40B4-BE49-F238E27FC236}">
                <a16:creationId xmlns:a16="http://schemas.microsoft.com/office/drawing/2014/main" id="{7AE8DE7F-111F-7EA5-531A-0BBAB495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2890242"/>
            <a:ext cx="14483179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0247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>
                <a:solidFill>
                  <a:srgbClr val="14432F"/>
                </a:solidFill>
                <a:latin typeface="Georgia"/>
                <a:ea typeface="Georgia"/>
                <a:cs typeface="Georgia"/>
              </a:rPr>
              <a:t>Security &amp; Access Control</a:t>
            </a:r>
          </a:p>
        </p:txBody>
      </p:sp>
      <p:sp>
        <p:nvSpPr>
          <p:cNvPr id="22" name="Text 6">
            <a:extLst xmlns:a="http://schemas.openxmlformats.org/drawingml/2006/main">
              <a:ext uri="{FF2B5EF4-FFF2-40B4-BE49-F238E27FC236}">
                <a16:creationId xmlns:a16="http://schemas.microsoft.com/office/drawing/2014/main" id="{4D302396-96AB-60DA-6AFF-ED3E68A5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3290292"/>
            <a:ext cx="14483179" cy="384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0562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091"/>
              </a:lnSpc>
              <a:buNone/>
            </a:pPr>
            <a:r>
              <a:rPr sz="1950">
                <a:solidFill>
                  <a:srgbClr val="4A564C"/>
                </a:solidFill>
                <a:latin typeface="Arial"/>
                <a:ea typeface="Arial"/>
                <a:cs typeface="Arial"/>
              </a:rPr>
              <a:t>JWT authentication, five-role RBAC, hashed passwords and backend authorization on sensitive endpoints.</a:t>
            </a:r>
          </a:p>
        </p:txBody>
      </p:sp>
      <p:sp>
        <p:nvSpPr>
          <p:cNvPr id="24" name="Shape 7">
            <a:extLst xmlns:a="http://schemas.openxmlformats.org/drawingml/2006/main">
              <a:ext uri="{FF2B5EF4-FFF2-40B4-BE49-F238E27FC236}">
                <a16:creationId xmlns:a16="http://schemas.microsoft.com/office/drawing/2014/main" id="{092E035A-22BE-9688-09A2-96F63DD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2412"/>
            <a:ext cx="16306800" cy="1254720"/>
          </a:xfrm>
          <a:prstGeom xmlns:a="http://schemas.openxmlformats.org/drawingml/2006/main" prst="roundRect">
            <a:avLst>
              <a:gd name="adj" fmla="val 911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4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8">
            <a:extLst xmlns:a="http://schemas.openxmlformats.org/drawingml/2006/main">
              <a:ext uri="{FF2B5EF4-FFF2-40B4-BE49-F238E27FC236}">
                <a16:creationId xmlns:a16="http://schemas.microsoft.com/office/drawing/2014/main" id="{DFF379E2-78B8-2F51-25B7-479CEEDE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4316413"/>
            <a:ext cx="6096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B4832E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28" name="Text 9">
            <a:extLst xmlns:a="http://schemas.openxmlformats.org/drawingml/2006/main">
              <a:ext uri="{FF2B5EF4-FFF2-40B4-BE49-F238E27FC236}">
                <a16:creationId xmlns:a16="http://schemas.microsoft.com/office/drawing/2014/main" id="{6F263AEC-17CE-3EEE-4933-99F864E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4316413"/>
            <a:ext cx="1119335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0247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>
                <a:solidFill>
                  <a:srgbClr val="14432F"/>
                </a:solidFill>
                <a:latin typeface="Georgia"/>
                <a:ea typeface="Georgia"/>
                <a:cs typeface="Georgia"/>
              </a:rPr>
              <a:t>Workflow Integrity</a:t>
            </a:r>
          </a:p>
        </p:txBody>
      </p:sp>
      <p:sp>
        <p:nvSpPr>
          <p:cNvPr id="30" name="Text 10">
            <a:extLst xmlns:a="http://schemas.openxmlformats.org/drawingml/2006/main">
              <a:ext uri="{FF2B5EF4-FFF2-40B4-BE49-F238E27FC236}">
                <a16:creationId xmlns:a16="http://schemas.microsoft.com/office/drawing/2014/main" id="{23589CD0-674E-099C-7DDB-DE466237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4716463"/>
            <a:ext cx="11193354" cy="384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0562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091"/>
              </a:lnSpc>
              <a:buNone/>
            </a:pPr>
            <a:r>
              <a:rPr sz="1950">
                <a:solidFill>
                  <a:srgbClr val="4A564C"/>
                </a:solidFill>
                <a:latin typeface="Arial"/>
                <a:ea typeface="Arial"/>
                <a:cs typeface="Arial"/>
              </a:rPr>
              <a:t>State-aware services block illegal transitions; a referee needs at least six cleared registrations to start.</a:t>
            </a:r>
          </a:p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2F0EAF90-6025-2A53-F8A6-95760B49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88583"/>
            <a:ext cx="16306800" cy="1254720"/>
          </a:xfrm>
          <a:prstGeom xmlns:a="http://schemas.openxmlformats.org/drawingml/2006/main" prst="roundRect">
            <a:avLst>
              <a:gd name="adj" fmla="val 911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4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2">
            <a:extLst xmlns:a="http://schemas.openxmlformats.org/drawingml/2006/main">
              <a:ext uri="{FF2B5EF4-FFF2-40B4-BE49-F238E27FC236}">
                <a16:creationId xmlns:a16="http://schemas.microsoft.com/office/drawing/2014/main" id="{524F19FC-0CF5-159B-CDEC-BE95EB65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5742583"/>
            <a:ext cx="6096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B4832E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6" name="Text 13">
            <a:extLst xmlns:a="http://schemas.openxmlformats.org/drawingml/2006/main">
              <a:ext uri="{FF2B5EF4-FFF2-40B4-BE49-F238E27FC236}">
                <a16:creationId xmlns:a16="http://schemas.microsoft.com/office/drawing/2014/main" id="{ADC5AFBC-2521-32D2-4BC3-04C3F39F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5742583"/>
            <a:ext cx="10794991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0247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>
                <a:solidFill>
                  <a:srgbClr val="14432F"/>
                </a:solidFill>
                <a:latin typeface="Georgia"/>
                <a:ea typeface="Georgia"/>
                <a:cs typeface="Georgia"/>
              </a:rPr>
              <a:t>Database Integrity</a:t>
            </a:r>
          </a:p>
        </p:txBody>
      </p:sp>
      <p:sp>
        <p:nvSpPr>
          <p:cNvPr id="38" name="Text 14">
            <a:extLst xmlns:a="http://schemas.openxmlformats.org/drawingml/2006/main">
              <a:ext uri="{FF2B5EF4-FFF2-40B4-BE49-F238E27FC236}">
                <a16:creationId xmlns:a16="http://schemas.microsoft.com/office/drawing/2014/main" id="{E5573C20-6EE4-38BE-86D0-BDD4FB47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6142633"/>
            <a:ext cx="10794991" cy="384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0562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091"/>
              </a:lnSpc>
              <a:buNone/>
            </a:pPr>
            <a:r>
              <a:rPr sz="1950">
                <a:solidFill>
                  <a:srgbClr val="4A564C"/>
                </a:solidFill>
                <a:latin typeface="Arial"/>
                <a:ea typeface="Arial"/>
                <a:cs typeface="Arial"/>
              </a:rPr>
              <a:t>SQL Server PK/FK/unique constraints and Spring transactions protect multi-table business operations.</a:t>
            </a:r>
          </a:p>
        </p:txBody>
      </p:sp>
      <p:sp>
        <p:nvSpPr>
          <p:cNvPr id="40" name="Shape 15">
            <a:extLst xmlns:a="http://schemas.openxmlformats.org/drawingml/2006/main">
              <a:ext uri="{FF2B5EF4-FFF2-40B4-BE49-F238E27FC236}">
                <a16:creationId xmlns:a16="http://schemas.microsoft.com/office/drawing/2014/main" id="{5660007B-0333-DF60-E6E0-C4B57021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14754"/>
            <a:ext cx="16306800" cy="1254720"/>
          </a:xfrm>
          <a:prstGeom xmlns:a="http://schemas.openxmlformats.org/drawingml/2006/main" prst="roundRect">
            <a:avLst>
              <a:gd name="adj" fmla="val 911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4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16">
            <a:extLst xmlns:a="http://schemas.openxmlformats.org/drawingml/2006/main">
              <a:ext uri="{FF2B5EF4-FFF2-40B4-BE49-F238E27FC236}">
                <a16:creationId xmlns:a16="http://schemas.microsoft.com/office/drawing/2014/main" id="{1422D392-8B76-2D73-6F1B-8638C29C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7168753"/>
            <a:ext cx="6096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B4832E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44" name="Text 17">
            <a:extLst xmlns:a="http://schemas.openxmlformats.org/drawingml/2006/main">
              <a:ext uri="{FF2B5EF4-FFF2-40B4-BE49-F238E27FC236}">
                <a16:creationId xmlns:a16="http://schemas.microsoft.com/office/drawing/2014/main" id="{F4436DA0-7974-AF6C-6FF1-BEE1ED0A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7168753"/>
            <a:ext cx="1010631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0247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>
                <a:solidFill>
                  <a:srgbClr val="14432F"/>
                </a:solidFill>
                <a:latin typeface="Georgia"/>
                <a:ea typeface="Georgia"/>
                <a:cs typeface="Georgia"/>
              </a:rPr>
              <a:t>Automated Verification</a:t>
            </a:r>
          </a:p>
        </p:txBody>
      </p:sp>
      <p:sp>
        <p:nvSpPr>
          <p:cNvPr id="46" name="Text 18">
            <a:extLst xmlns:a="http://schemas.openxmlformats.org/drawingml/2006/main">
              <a:ext uri="{FF2B5EF4-FFF2-40B4-BE49-F238E27FC236}">
                <a16:creationId xmlns:a16="http://schemas.microsoft.com/office/drawing/2014/main" id="{0BE597B7-CDE1-65F7-CC73-77EDBE4D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7568803"/>
            <a:ext cx="10106313" cy="384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5271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091"/>
              </a:lnSpc>
              <a:buNone/>
            </a:pPr>
            <a:r>
              <a:rPr sz="1950">
                <a:solidFill>
                  <a:srgbClr val="4A564C"/>
                </a:solidFill>
                <a:latin typeface="Arial"/>
                <a:ea typeface="Arial"/>
                <a:cs typeface="Arial"/>
              </a:rPr>
              <a:t>46 backend tests and 12 frontend tests pass with zero failures; role, race and localization rules are covered.</a:t>
            </a:r>
          </a:p>
        </p:txBody>
      </p:sp>
      <p:sp>
        <p:nvSpPr>
          <p:cNvPr id="48" name="Shape 19">
            <a:extLst xmlns:a="http://schemas.openxmlformats.org/drawingml/2006/main">
              <a:ext uri="{FF2B5EF4-FFF2-40B4-BE49-F238E27FC236}">
                <a16:creationId xmlns:a16="http://schemas.microsoft.com/office/drawing/2014/main" id="{0D540037-9265-191B-2303-1C5523E9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40923"/>
            <a:ext cx="16306800" cy="1254720"/>
          </a:xfrm>
          <a:prstGeom xmlns:a="http://schemas.openxmlformats.org/drawingml/2006/main" prst="roundRect">
            <a:avLst>
              <a:gd name="adj" fmla="val 911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4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20">
            <a:extLst xmlns:a="http://schemas.openxmlformats.org/drawingml/2006/main">
              <a:ext uri="{FF2B5EF4-FFF2-40B4-BE49-F238E27FC236}">
                <a16:creationId xmlns:a16="http://schemas.microsoft.com/office/drawing/2014/main" id="{B32540CF-21E6-9188-C246-EA19966E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8594924"/>
            <a:ext cx="6096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>
                <a:solidFill>
                  <a:srgbClr val="B4832E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52" name="Text 21">
            <a:extLst xmlns:a="http://schemas.openxmlformats.org/drawingml/2006/main">
              <a:ext uri="{FF2B5EF4-FFF2-40B4-BE49-F238E27FC236}">
                <a16:creationId xmlns:a16="http://schemas.microsoft.com/office/drawing/2014/main" id="{E636A4BE-FB62-5160-3EE2-4E65DCA6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8594924"/>
            <a:ext cx="10714008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0247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>
                <a:solidFill>
                  <a:srgbClr val="14432F"/>
                </a:solidFill>
                <a:latin typeface="Georgia"/>
                <a:ea typeface="Georgia"/>
                <a:cs typeface="Georgia"/>
              </a:rPr>
              <a:t>Delivery Readiness</a:t>
            </a:r>
          </a:p>
        </p:txBody>
      </p:sp>
      <p:sp>
        <p:nvSpPr>
          <p:cNvPr id="54" name="Text 22">
            <a:extLst xmlns:a="http://schemas.openxmlformats.org/drawingml/2006/main">
              <a:ext uri="{FF2B5EF4-FFF2-40B4-BE49-F238E27FC236}">
                <a16:creationId xmlns:a16="http://schemas.microsoft.com/office/drawing/2014/main" id="{66E4B7BC-F7D1-6B00-C034-3B67FFE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8994974"/>
            <a:ext cx="10714008" cy="384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0562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091"/>
              </a:lnSpc>
              <a:buNone/>
            </a:pPr>
            <a:r>
              <a:rPr sz="1950">
                <a:solidFill>
                  <a:srgbClr val="4A564C"/>
                </a:solidFill>
                <a:latin typeface="Arial"/>
                <a:ea typeface="Arial"/>
                <a:cs typeface="Arial"/>
              </a:rPr>
              <a:t>The Vite production build passes; the 531.7 KB main chunk is documented for future code-splitting.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F8985C12-D8DC-A968-662F-1F8F9045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14" y="1091643"/>
            <a:ext cx="13377661" cy="11103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023"/>
              </a:lnSpc>
              <a:buNone/>
            </a:pPr>
            <a:r>
              <a:rPr sz="6522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Quality &amp; Verification</a:t>
            </a:r>
          </a:p>
        </p:txBody>
      </p:sp>
    </p:spTree>
    <p:extLst>
      <p:ext uri="{BB962C8B-B14F-4D97-AF65-F5344CB8AC3E}">
        <p14:creationId xmlns:p14="http://schemas.microsoft.com/office/powerpoint/2010/main" val="12699471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2128944-0101-D040-FD6D-E227A6B7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88F4146-C865-A22F-A2D7-9B824574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137D686-F911-2931-385F-E6E0691C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971BE8F-1CFE-1434-10D6-81FDDC50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FE5E74-5C6A-A51B-7886-AF07627B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14" y="1091643"/>
            <a:ext cx="13377661" cy="3158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8023"/>
              </a:lnSpc>
              <a:buNone/>
            </a:pPr>
            <a:r>
              <a:rPr sz="6522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</a:rPr>
              <a:t>EquiX connects business rules, code and data in one traceable workflow.</a:t>
            </a:r>
          </a:p>
        </p:txBody>
      </p:sp>
      <p:sp>
        <p:nvSpPr>
          <p:cNvPr id="15" name="Shape 3">
            <a:extLst xmlns:a="http://schemas.openxmlformats.org/drawingml/2006/main">
              <a:ext uri="{FF2B5EF4-FFF2-40B4-BE49-F238E27FC236}">
                <a16:creationId xmlns:a16="http://schemas.microsoft.com/office/drawing/2014/main" id="{1A7101BE-44ED-7FDC-5905-0372CEAC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714" y="4428069"/>
            <a:ext cx="266134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6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7328C20-4317-FFC8-E36E-B5C0A0E8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814" y="4586819"/>
            <a:ext cx="215698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25">
                <a:solidFill>
                  <a:srgbClr val="14432F"/>
                </a:solidFill>
                <a:latin typeface="Arial"/>
                <a:ea typeface="Arial"/>
                <a:cs typeface="Arial"/>
              </a:rPr>
              <a:t>5 Roles</a:t>
            </a:r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9D884FB8-DA72-E5A3-89A4-ECB16914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1409" y="4428069"/>
            <a:ext cx="3141861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6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6">
            <a:extLst xmlns:a="http://schemas.openxmlformats.org/drawingml/2006/main">
              <a:ext uri="{FF2B5EF4-FFF2-40B4-BE49-F238E27FC236}">
                <a16:creationId xmlns:a16="http://schemas.microsoft.com/office/drawing/2014/main" id="{E7E29C96-ACFA-9FE8-67C6-BD17B7C2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3509" y="4586819"/>
            <a:ext cx="265191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25">
                <a:solidFill>
                  <a:srgbClr val="14432F"/>
                </a:solidFill>
                <a:latin typeface="Arial"/>
                <a:ea typeface="Arial"/>
                <a:cs typeface="Arial"/>
              </a:rPr>
              <a:t>React 19</a:t>
            </a:r>
          </a:p>
        </p:txBody>
      </p:sp>
      <p:sp>
        <p:nvSpPr>
          <p:cNvPr id="23" name="Shape 7">
            <a:extLst xmlns:a="http://schemas.openxmlformats.org/drawingml/2006/main">
              <a:ext uri="{FF2B5EF4-FFF2-40B4-BE49-F238E27FC236}">
                <a16:creationId xmlns:a16="http://schemas.microsoft.com/office/drawing/2014/main" id="{82DFF7D4-2277-60ED-0E47-383FCD60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6620" y="4428069"/>
            <a:ext cx="3741539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6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8">
            <a:extLst xmlns:a="http://schemas.openxmlformats.org/drawingml/2006/main">
              <a:ext uri="{FF2B5EF4-FFF2-40B4-BE49-F238E27FC236}">
                <a16:creationId xmlns:a16="http://schemas.microsoft.com/office/drawing/2014/main" id="{FB591968-FFAA-CA45-001E-84F3B0EB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8720" y="4586819"/>
            <a:ext cx="326958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25">
                <a:solidFill>
                  <a:srgbClr val="14432F"/>
                </a:solidFill>
                <a:latin typeface="Arial"/>
                <a:ea typeface="Arial"/>
                <a:cs typeface="Arial"/>
              </a:rPr>
              <a:t>Spring Boot 3.5</a:t>
            </a:r>
          </a:p>
        </p:txBody>
      </p:sp>
      <p:sp>
        <p:nvSpPr>
          <p:cNvPr id="27" name="Shape 9">
            <a:extLst xmlns:a="http://schemas.openxmlformats.org/drawingml/2006/main">
              <a:ext uri="{FF2B5EF4-FFF2-40B4-BE49-F238E27FC236}">
                <a16:creationId xmlns:a16="http://schemas.microsoft.com/office/drawing/2014/main" id="{2F0E1BC5-1234-C37A-B9E5-82FFA7F8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31509" y="4428069"/>
            <a:ext cx="2318246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6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10">
            <a:extLst xmlns:a="http://schemas.openxmlformats.org/drawingml/2006/main">
              <a:ext uri="{FF2B5EF4-FFF2-40B4-BE49-F238E27FC236}">
                <a16:creationId xmlns:a16="http://schemas.microsoft.com/office/drawing/2014/main" id="{AF7AAAA4-4CB5-C852-A9B7-B06DB809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3609" y="4586819"/>
            <a:ext cx="1810246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25">
                <a:solidFill>
                  <a:srgbClr val="14432F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31" name="Shape 11">
            <a:extLst xmlns:a="http://schemas.openxmlformats.org/drawingml/2006/main">
              <a:ext uri="{FF2B5EF4-FFF2-40B4-BE49-F238E27FC236}">
                <a16:creationId xmlns:a16="http://schemas.microsoft.com/office/drawing/2014/main" id="{24B42190-DBC2-C6D2-9B9C-E7C8A109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3105" y="4428069"/>
            <a:ext cx="2517874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6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12">
            <a:extLst xmlns:a="http://schemas.openxmlformats.org/drawingml/2006/main">
              <a:ext uri="{FF2B5EF4-FFF2-40B4-BE49-F238E27FC236}">
                <a16:creationId xmlns:a16="http://schemas.microsoft.com/office/drawing/2014/main" id="{040318AD-02BD-2D8B-5DBD-2EA7DCC5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75205" y="4586819"/>
            <a:ext cx="200987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25">
                <a:solidFill>
                  <a:srgbClr val="14432F"/>
                </a:solidFill>
                <a:latin typeface="Arial"/>
                <a:ea typeface="Arial"/>
                <a:cs typeface="Arial"/>
              </a:rPr>
              <a:t>JWT / RBAC</a:t>
            </a:r>
          </a:p>
        </p:txBody>
      </p:sp>
      <p:sp>
        <p:nvSpPr>
          <p:cNvPr id="35" name="Shape 13">
            <a:extLst xmlns:a="http://schemas.openxmlformats.org/drawingml/2006/main">
              <a:ext uri="{FF2B5EF4-FFF2-40B4-BE49-F238E27FC236}">
                <a16:creationId xmlns:a16="http://schemas.microsoft.com/office/drawing/2014/main" id="{F20522C0-9088-75FF-03C4-E631DB8E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714" y="5209119"/>
            <a:ext cx="2080518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9F3"/>
          </a:solidFill>
          <a:ln xmlns:a="http://schemas.openxmlformats.org/drawingml/2006/main" w="6350">
            <a:solidFill>
              <a:srgbClr val="14432F">
                <a:alpha val="16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4">
            <a:extLst xmlns:a="http://schemas.openxmlformats.org/drawingml/2006/main">
              <a:ext uri="{FF2B5EF4-FFF2-40B4-BE49-F238E27FC236}">
                <a16:creationId xmlns:a16="http://schemas.microsoft.com/office/drawing/2014/main" id="{D94BEA1F-AB18-415F-743F-4A1219A2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814" y="5367869"/>
            <a:ext cx="157251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25">
                <a:solidFill>
                  <a:srgbClr val="14432F"/>
                </a:solidFill>
                <a:latin typeface="Arial"/>
                <a:ea typeface="Arial"/>
                <a:cs typeface="Arial"/>
              </a:rPr>
              <a:t>58 Tests</a:t>
            </a: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C29ACD6B-4279-DA9F-7D26-1833459A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714" y="6352120"/>
            <a:ext cx="12753975" cy="1409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4602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909"/>
              </a:lnSpc>
              <a:buNone/>
            </a:pPr>
            <a:r>
              <a:rPr sz="2400">
                <a:solidFill>
                  <a:srgbClr val="26312A"/>
                </a:solidFill>
                <a:latin typeface="Arial"/>
                <a:ea typeface="Arial"/>
                <a:cs typeface="Arial"/>
              </a:rPr>
              <a:t>A race row stores configuration and workflow state. Related tables capture registrations, predictions, notes, results, rewards, notifications and audit history. That separation makes every stage explainable, testable and reviewable.</a:t>
            </a:r>
          </a:p>
        </p:txBody>
      </p:sp>
    </p:spTree>
    <p:extLst>
      <p:ext uri="{BB962C8B-B14F-4D97-AF65-F5344CB8AC3E}">
        <p14:creationId xmlns:p14="http://schemas.microsoft.com/office/powerpoint/2010/main" val="21323477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BCDB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4F1DFC9-4479-9679-9B7C-820CAA84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723" y="379852"/>
            <a:ext cx="17404553" cy="9527296"/>
          </a:xfrm>
          <a:custGeom xmlns:a="http://schemas.openxmlformats.org/drawingml/2006/main">
            <a:rect l="l" t="t" r="r" b="b"/>
            <a:pathLst>
              <a:path w="4596479" h="2516124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436706"/>
                </a:lnTo>
                <a:cubicBezTo>
                  <a:pt x="43699" y="2436706"/>
                  <a:pt x="79418" y="2472045"/>
                  <a:pt x="79418" y="2516124"/>
                </a:cubicBezTo>
                <a:lnTo>
                  <a:pt x="4517061" y="2516124"/>
                </a:lnTo>
                <a:cubicBezTo>
                  <a:pt x="4517061" y="2472425"/>
                  <a:pt x="4552400" y="2436706"/>
                  <a:pt x="4596479" y="2436706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ln xmlns:a="http://schemas.openxmlformats.org/drawingml/2006/main" w="19050">
            <a:solidFill>
              <a:srgbClr val="26131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598E2BA-ECF1-41CB-789E-E292C6C5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988" y="343786"/>
            <a:ext cx="17116021" cy="9419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29F6893-BDAD-DC3F-4162-85DA33D2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442" y="519364"/>
            <a:ext cx="17127271" cy="9238221"/>
          </a:xfrm>
          <a:custGeom xmlns:a="http://schemas.openxmlformats.org/drawingml/2006/main">
            <a:rect l="l" t="t" r="r" b="b"/>
            <a:pathLst>
              <a:path w="4596479" h="2479279">
                <a:moveTo>
                  <a:pt x="4517061" y="0"/>
                </a:moveTo>
                <a:lnTo>
                  <a:pt x="79418" y="0"/>
                </a:lnTo>
                <a:cubicBezTo>
                  <a:pt x="79418" y="43699"/>
                  <a:pt x="44079" y="79418"/>
                  <a:pt x="0" y="79418"/>
                </a:cubicBezTo>
                <a:lnTo>
                  <a:pt x="0" y="2399861"/>
                </a:lnTo>
                <a:cubicBezTo>
                  <a:pt x="43699" y="2399861"/>
                  <a:pt x="79418" y="2435200"/>
                  <a:pt x="79418" y="2479279"/>
                </a:cubicBezTo>
                <a:lnTo>
                  <a:pt x="4517061" y="2479279"/>
                </a:lnTo>
                <a:cubicBezTo>
                  <a:pt x="4517061" y="2435580"/>
                  <a:pt x="4552400" y="2399861"/>
                  <a:pt x="4596479" y="2399861"/>
                </a:cubicBezTo>
                <a:lnTo>
                  <a:pt x="4596479" y="79418"/>
                </a:lnTo>
                <a:cubicBezTo>
                  <a:pt x="4552780" y="79418"/>
                  <a:pt x="4517061" y="44079"/>
                  <a:pt x="4517061" y="0"/>
                </a:cubicBezTo>
                <a:close/>
              </a:path>
            </a:pathLst>
          </a:custGeom>
          <a:solidFill xmlns:a="http://schemas.openxmlformats.org/drawingml/2006/main">
            <a:srgbClr val="F8F2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EEDF9D0-332E-AFA4-A0D8-44C4008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409" y="483873"/>
            <a:ext cx="16843336" cy="9131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</a:p>
        </p:txBody>
      </p:sp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6CCC0FBE-8119-03DD-7558-65135BE2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168" y="2071556"/>
            <a:ext cx="3803154" cy="139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>
                <a:solidFill>
                  <a:srgbClr val="D9B85C"/>
                </a:solidFill>
                <a:latin typeface="Courier New"/>
                <a:ea typeface="Courier New"/>
                <a:cs typeface="Courier New"/>
              </a:rPr>
              <a:t>Q &amp; A</a:t>
            </a:r>
          </a:p>
        </p:txBody>
      </p:sp>
      <p:sp>
        <p:nvSpPr>
          <p:cNvPr id="12" name="Text 1">
            <a:extLst xmlns:a="http://schemas.openxmlformats.org/drawingml/2006/main">
              <a:ext uri="{FF2B5EF4-FFF2-40B4-BE49-F238E27FC236}">
                <a16:creationId xmlns:a16="http://schemas.microsoft.com/office/drawing/2014/main" id="{4C0A46C8-8FCB-DD81-FBFB-BEF7C173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226" y="3790950"/>
            <a:ext cx="4997549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3589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87805"/>
              </a:lnSpc>
              <a:buNone/>
            </a:pPr>
            <a:r>
              <a:rPr sz="7200">
                <a:solidFill>
                  <a:srgbClr val="14432F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16" name="Text 2">
            <a:extLst xmlns:a="http://schemas.openxmlformats.org/drawingml/2006/main">
              <a:ext uri="{FF2B5EF4-FFF2-40B4-BE49-F238E27FC236}">
                <a16:creationId xmlns:a16="http://schemas.microsoft.com/office/drawing/2014/main" id="{A29C7C39-7554-FF0C-82DC-080050EF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937" y="5029200"/>
            <a:ext cx="5864126" cy="425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>
                <a:solidFill>
                  <a:srgbClr val="14432F"/>
                </a:solidFill>
                <a:latin typeface="Arial"/>
                <a:ea typeface="Arial"/>
                <a:cs typeface="Arial"/>
              </a:rPr>
              <a:t>We are ready for your questions.</a:t>
            </a:r>
          </a:p>
        </p:txBody>
      </p:sp>
      <p:sp>
        <p:nvSpPr>
          <p:cNvPr id="20" name="Shape 3">
            <a:extLst xmlns:a="http://schemas.openxmlformats.org/drawingml/2006/main">
              <a:ext uri="{FF2B5EF4-FFF2-40B4-BE49-F238E27FC236}">
                <a16:creationId xmlns:a16="http://schemas.microsoft.com/office/drawing/2014/main" id="{1C0ACB0E-AA24-C618-9A94-4A6ABE5F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21" y="6026150"/>
            <a:ext cx="429775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5C">
              <a:alpha val="3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4">
            <a:extLst xmlns:a="http://schemas.openxmlformats.org/drawingml/2006/main">
              <a:ext uri="{FF2B5EF4-FFF2-40B4-BE49-F238E27FC236}">
                <a16:creationId xmlns:a16="http://schemas.microsoft.com/office/drawing/2014/main" id="{55C80AE5-218E-34F9-ADE6-C2BE27CD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33" y="6356350"/>
            <a:ext cx="4727535" cy="374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chemeClr val="accent6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SE1916 • GROUP 06 • EQUIX</a:t>
            </a:r>
          </a:p>
        </p:txBody>
      </p:sp>
      <p:sp>
        <p:nvSpPr>
          <p:cNvPr id="28" name="Text 5">
            <a:extLst xmlns:a="http://schemas.openxmlformats.org/drawingml/2006/main">
              <a:ext uri="{FF2B5EF4-FFF2-40B4-BE49-F238E27FC236}">
                <a16:creationId xmlns:a16="http://schemas.microsoft.com/office/drawing/2014/main" id="{E011C768-F797-A8F3-5A06-49312727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168" y="6788150"/>
            <a:ext cx="357566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6439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50">
                <a:solidFill>
                  <a:srgbClr val="14432F"/>
                </a:solidFill>
                <a:latin typeface="Arial"/>
                <a:ea typeface="Arial"/>
                <a:cs typeface="Arial"/>
              </a:rPr>
              <a:t>SWP391 • Two-presenter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27833223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2026-07-23T00:08:39.3690000Z</dcterms:created>
  <dcterms:modified xsi:type="dcterms:W3CDTF">2026-07-23T00:08:39.3690000Z</dcterms:modified>
</coreProperties>
</file>